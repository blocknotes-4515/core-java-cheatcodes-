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256" r:id="rId2"/>
    <p:sldId id="362" r:id="rId3"/>
    <p:sldId id="308" r:id="rId4"/>
    <p:sldId id="259" r:id="rId5"/>
    <p:sldId id="309" r:id="rId6"/>
    <p:sldId id="310" r:id="rId7"/>
    <p:sldId id="359" r:id="rId8"/>
    <p:sldId id="486" r:id="rId9"/>
    <p:sldId id="318" r:id="rId10"/>
    <p:sldId id="262" r:id="rId11"/>
    <p:sldId id="485" r:id="rId12"/>
    <p:sldId id="505" r:id="rId13"/>
    <p:sldId id="266" r:id="rId14"/>
    <p:sldId id="376" r:id="rId15"/>
    <p:sldId id="377" r:id="rId16"/>
    <p:sldId id="487" r:id="rId17"/>
    <p:sldId id="316" r:id="rId18"/>
    <p:sldId id="267" r:id="rId19"/>
    <p:sldId id="506" r:id="rId20"/>
    <p:sldId id="379" r:id="rId21"/>
    <p:sldId id="507" r:id="rId22"/>
    <p:sldId id="380" r:id="rId23"/>
    <p:sldId id="488" r:id="rId24"/>
    <p:sldId id="489" r:id="rId25"/>
    <p:sldId id="508" r:id="rId26"/>
    <p:sldId id="332" r:id="rId27"/>
    <p:sldId id="509" r:id="rId28"/>
    <p:sldId id="358" r:id="rId29"/>
    <p:sldId id="289" r:id="rId30"/>
    <p:sldId id="510" r:id="rId31"/>
    <p:sldId id="279" r:id="rId32"/>
    <p:sldId id="280" r:id="rId33"/>
    <p:sldId id="281" r:id="rId34"/>
    <p:sldId id="356" r:id="rId35"/>
    <p:sldId id="282" r:id="rId36"/>
    <p:sldId id="283" r:id="rId37"/>
    <p:sldId id="511" r:id="rId38"/>
    <p:sldId id="295" r:id="rId39"/>
    <p:sldId id="296" r:id="rId40"/>
    <p:sldId id="299" r:id="rId41"/>
    <p:sldId id="298" r:id="rId42"/>
    <p:sldId id="512" r:id="rId43"/>
    <p:sldId id="513" r:id="rId44"/>
    <p:sldId id="353" r:id="rId4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D083AE6-46FA-4A59-8FB0-9F97EB10719F}" styleName="Light Style 3 –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130" autoAdjust="0"/>
    <p:restoredTop sz="94726"/>
  </p:normalViewPr>
  <p:slideViewPr>
    <p:cSldViewPr>
      <p:cViewPr varScale="1">
        <p:scale>
          <a:sx n="123" d="100"/>
          <a:sy n="123" d="100"/>
        </p:scale>
        <p:origin x="33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36" d="100"/>
          <a:sy n="36" d="100"/>
        </p:scale>
        <p:origin x="-282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AFE1B71-DA8E-ACF3-90E1-119B2F79054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r>
              <a:rPr lang="en-US" altLang="en-US"/>
              <a:t>Amity Business School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47823DD0-1AFE-7C2F-E7C8-1E940F3A169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3815ED1D-9C87-D74D-F2FE-3250C9DA615F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D3F1B49F-DE3C-0C16-6223-3DA6DBEDDB5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D1803DE-6D60-914D-A4C0-D9FB7E620C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C0EF7A8-D444-B4FE-25DA-9CB1F87C446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r>
              <a:rPr lang="en-US" altLang="en-US"/>
              <a:t>Amity Business School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F91271C0-CA0C-D11D-FCAC-82F43781C97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981ACF50-9623-8148-388C-CDECB108587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B957AC73-4220-2CF7-A737-39EDC677F09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5943600"/>
            <a:ext cx="5486400" cy="2514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88010D87-4B73-09A3-4FB5-B4A5D73B619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A48779FF-152B-D91A-A53F-7C1EC78EC1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CC5E6AB-A637-7044-BA94-0BB8080103C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615B6350-7D15-5CC7-6878-7E5474BC0F4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Amity Business School</a:t>
            </a:r>
          </a:p>
        </p:txBody>
      </p:sp>
      <p:sp>
        <p:nvSpPr>
          <p:cNvPr id="16386" name="Rectangle 7">
            <a:extLst>
              <a:ext uri="{FF2B5EF4-FFF2-40B4-BE49-F238E27FC236}">
                <a16:creationId xmlns:a16="http://schemas.microsoft.com/office/drawing/2014/main" id="{9F076783-6185-880E-FF3A-EF5A76369C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24A705E-76C3-F349-9C51-AAD353ADDAC5}" type="slidenum">
              <a:rPr lang="en-US" altLang="en-US" smtClean="0"/>
              <a:pPr/>
              <a:t>1</a:t>
            </a:fld>
            <a:endParaRPr lang="en-US" altLang="en-US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8A7A0438-C327-0981-1AC5-45072E9C0D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1D3A0FD4-81F4-DE93-B543-D49DA738D7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F13E37F-36FF-4F86-8E44-AB86E5DF0072}" type="slidenum">
              <a:rPr lang="en-US"/>
              <a:pPr/>
              <a:t>4</a:t>
            </a:fld>
            <a:endParaRPr lang="en-US"/>
          </a:p>
        </p:txBody>
      </p:sp>
      <p:sp>
        <p:nvSpPr>
          <p:cNvPr id="274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  <p:txBody>
          <a:bodyPr/>
          <a:lstStyle/>
          <a:p>
            <a:endParaRPr lang="en-US"/>
          </a:p>
        </p:txBody>
      </p:sp>
      <p:sp>
        <p:nvSpPr>
          <p:cNvPr id="274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DA4D3FF6-B8F9-4EB3-A54D-27BFF1F8ED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5E8479EB-BE37-4EB6-AB01-F9600E4EAE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6816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BDF4F0DF-CE00-473D-B39B-86E9CE1651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99D6D057-DDB8-4BAB-AE4B-2EB4DB5F26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9473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A92D1BE-D25E-791F-1A88-C9B8AC7F4B8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44B03E-EDD9-5542-A3A5-E4559B0CCC8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2347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193D765-E715-3074-EB72-3617460669C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337E41-9E00-5440-A21E-7469353E706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6227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1FF278A-BF62-ACA1-DC1F-B3712DD8B8B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8F9D6C-C199-794E-A8FA-4B91FACF320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2398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1B35066-0B36-7B0C-05E9-5EDE6A327F3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C5B0E2-FD7B-AA4B-ACF9-DC75B5AF803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2536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C1E975-14C3-B5F2-E3D6-8D459CFB28B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5C73DB-1ECF-6B46-88A0-029B0D05DC3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4502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98FFA502-7748-00C5-F74D-5D12A781CB7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C01D35-74C5-5742-AE71-C0783F09D61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6881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267E3EA3-A8CE-32EC-F82A-6E9E050F182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890F62-3C9F-CB49-BDE1-366AC12D7FD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342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11A906A-6652-8805-8471-3F13441785E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BF2B37-2D5E-2440-8351-BAB7F5E331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8210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742B6B0-4477-4A00-58F9-BF6DCC43138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0F21D8-CC30-8648-8D5A-43CDD949025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5140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4DA2EF0-02EC-7DAB-D59E-2FFEF24C53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7371CD-6DE0-9848-8BA1-F7991CD1E69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9960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83BF33A-B429-BB47-627A-3A21A7BCE34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A9B9AF-8D60-5E47-B040-B28C4D79BB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9346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8">
            <a:extLst>
              <a:ext uri="{FF2B5EF4-FFF2-40B4-BE49-F238E27FC236}">
                <a16:creationId xmlns:a16="http://schemas.microsoft.com/office/drawing/2014/main" id="{15385228-6E92-27A3-8F51-448F9456F83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365"/>
          <a:stretch>
            <a:fillRect/>
          </a:stretch>
        </p:blipFill>
        <p:spPr bwMode="auto">
          <a:xfrm>
            <a:off x="3175" y="3175"/>
            <a:ext cx="913765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6">
            <a:extLst>
              <a:ext uri="{FF2B5EF4-FFF2-40B4-BE49-F238E27FC236}">
                <a16:creationId xmlns:a16="http://schemas.microsoft.com/office/drawing/2014/main" id="{ECDA3EFE-6B21-69B1-9304-B2433549877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99263" y="6400800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100"/>
            </a:lvl1pPr>
          </a:lstStyle>
          <a:p>
            <a:pPr>
              <a:defRPr/>
            </a:pPr>
            <a:fld id="{A629E020-9C2C-DA41-9A87-2C48DDB7BC8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7E49CF28-B4FC-621F-7AE3-62DA64874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1863" y="695325"/>
            <a:ext cx="41910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algn="r" eaLnBrk="1" hangingPunct="1">
              <a:defRPr/>
            </a:pPr>
            <a:r>
              <a:rPr lang="en-US" altLang="en-US" sz="1050" b="1" dirty="0">
                <a:solidFill>
                  <a:schemeClr val="accent2"/>
                </a:solidFill>
              </a:rPr>
              <a:t>AMITY INSTITUTE OF INFORMATION TECHNOLOGY</a:t>
            </a:r>
          </a:p>
        </p:txBody>
      </p:sp>
      <p:sp>
        <p:nvSpPr>
          <p:cNvPr id="1029" name="Rectangle 10">
            <a:extLst>
              <a:ext uri="{FF2B5EF4-FFF2-40B4-BE49-F238E27FC236}">
                <a16:creationId xmlns:a16="http://schemas.microsoft.com/office/drawing/2014/main" id="{48678984-9775-3A2F-EA45-3D96AD79B21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438400" y="6705600"/>
            <a:ext cx="6705600" cy="152400"/>
          </a:xfrm>
          <a:prstGeom prst="rect">
            <a:avLst/>
          </a:prstGeom>
          <a:solidFill>
            <a:srgbClr val="F1B43B"/>
          </a:solidFill>
          <a:ln>
            <a:noFill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trinket.io/java/19a21f75a827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trinket.io/java/97e502bb9cb2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trinket.io/java/a4429a6ffa1e" TargetMode="External"/><Relationship Id="rId2" Type="http://schemas.openxmlformats.org/officeDocument/2006/relationships/hyperlink" Target="https://trinket.io/java/cfee7e4fe04f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trinket.io/java/5c294911b25b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trinket.io/java/4d7a5f3c4c34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trinket.io/java/87db1899022c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trinket.io/java/00be98363762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trinket.io/java/47836c08961a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4">
            <a:extLst>
              <a:ext uri="{FF2B5EF4-FFF2-40B4-BE49-F238E27FC236}">
                <a16:creationId xmlns:a16="http://schemas.microsoft.com/office/drawing/2014/main" id="{652415BE-4660-F41D-0A59-CD81D502103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228600" y="1371600"/>
            <a:ext cx="8458200" cy="1470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Aft>
                <a:spcPts val="1800"/>
              </a:spcAft>
            </a:pPr>
            <a:r>
              <a:rPr lang="en-US" altLang="en-US" sz="4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Exception Handling Interface and Thread in Java</a:t>
            </a:r>
            <a:br>
              <a:rPr lang="en-US" altLang="en-US" sz="4500" b="1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br>
              <a:rPr lang="en-US" altLang="en-US" sz="4500" b="1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US" altLang="en-US" sz="45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CSIT751 (PG)</a:t>
            </a:r>
            <a:br>
              <a:rPr lang="en-US" altLang="en-US" sz="4500" b="1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br>
              <a:rPr lang="en-US" altLang="en-US" sz="4500" b="1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US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(CORE JAVA MODULE III) </a:t>
            </a:r>
            <a:br>
              <a:rPr lang="en-US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</a:br>
            <a:b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endParaRPr lang="en-US" altLang="en-US" sz="25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2" name="Slide Number Placeholder 3">
            <a:extLst>
              <a:ext uri="{FF2B5EF4-FFF2-40B4-BE49-F238E27FC236}">
                <a16:creationId xmlns:a16="http://schemas.microsoft.com/office/drawing/2014/main" id="{9757C025-9C81-1150-8889-7494EBDA22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5BA29FB-FCCE-0B47-8A11-59E213BA79A3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AA355-D7FC-4A03-918F-4B98F2636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440363"/>
          </a:xfrm>
        </p:spPr>
        <p:txBody>
          <a:bodyPr>
            <a:normAutofit lnSpcReduction="10000"/>
          </a:bodyPr>
          <a:lstStyle/>
          <a:p>
            <a:pPr marL="0" indent="0" algn="just">
              <a:spcAft>
                <a:spcPts val="1200"/>
              </a:spcAft>
              <a:buNone/>
            </a:pPr>
            <a:r>
              <a:rPr lang="en-US" dirty="0">
                <a:solidFill>
                  <a:srgbClr val="FF0000"/>
                </a:solidFill>
              </a:rPr>
              <a:t>Topics Covered</a:t>
            </a:r>
            <a:r>
              <a:rPr lang="en-US" b="0" i="0" dirty="0">
                <a:solidFill>
                  <a:srgbClr val="FF0000"/>
                </a:solidFill>
                <a:effectLst/>
              </a:rPr>
              <a:t>: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b="1" dirty="0">
                <a:solidFill>
                  <a:srgbClr val="002060"/>
                </a:solidFill>
              </a:rPr>
              <a:t>Exception handling in Java 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2060"/>
                </a:solidFill>
              </a:rPr>
              <a:t>try, catch, throw, throws and finally 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2060"/>
                </a:solidFill>
              </a:rPr>
              <a:t>Uncaught Exceptions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2060"/>
                </a:solidFill>
              </a:rPr>
              <a:t>Creating and using user defined Exceptions 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2060"/>
                </a:solidFill>
              </a:rPr>
              <a:t>Multiple catch, Java’s Built-in Exception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b="1" dirty="0">
                <a:solidFill>
                  <a:srgbClr val="002060"/>
                </a:solidFill>
              </a:rPr>
              <a:t>Threads in Java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2060"/>
                </a:solidFill>
              </a:rPr>
              <a:t>Thread life cycle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2060"/>
                </a:solidFill>
              </a:rPr>
              <a:t>Creating and implementing thread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2060"/>
                </a:solidFill>
              </a:rPr>
              <a:t>Multi-threaded programming, thread priorities 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2060"/>
                </a:solidFill>
              </a:rPr>
              <a:t>Synchronization of thread, resuming and stopping Threads</a:t>
            </a:r>
          </a:p>
          <a:p>
            <a:pPr algn="just">
              <a:buFont typeface="Wingdings" panose="05000000000000000000" pitchFamily="2" charset="2"/>
              <a:buChar char="ü"/>
            </a:pPr>
            <a:endParaRPr lang="en-US" sz="2800" dirty="0">
              <a:solidFill>
                <a:srgbClr val="002060"/>
              </a:solidFill>
            </a:endParaRPr>
          </a:p>
          <a:p>
            <a:pPr algn="just">
              <a:buFont typeface="Wingdings" panose="05000000000000000000" pitchFamily="2" charset="2"/>
              <a:buChar char="ü"/>
            </a:pPr>
            <a:endParaRPr lang="en-US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1332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4800" u="sng" dirty="0">
                <a:latin typeface="Algerian" pitchFamily="82" charset="0"/>
              </a:rPr>
              <a:t>Exception Handling</a:t>
            </a:r>
            <a:endParaRPr lang="en-US" sz="4800" u="sng" dirty="0">
              <a:latin typeface="Algerian" pitchFamily="8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914400"/>
            <a:ext cx="8534400" cy="1047750"/>
          </a:xfrm>
          <a:noFill/>
          <a:ln/>
        </p:spPr>
        <p:txBody>
          <a:bodyPr>
            <a:normAutofit/>
          </a:bodyPr>
          <a:lstStyle/>
          <a:p>
            <a:r>
              <a:rPr lang="en-US" b="1" u="sng" dirty="0"/>
              <a:t>Types of Errors</a:t>
            </a:r>
          </a:p>
        </p:txBody>
      </p:sp>
      <p:sp>
        <p:nvSpPr>
          <p:cNvPr id="2734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962150"/>
            <a:ext cx="8610600" cy="4800600"/>
          </a:xfrm>
          <a:noFill/>
          <a:ln/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800" dirty="0">
                <a:cs typeface="Times New Roman" pitchFamily="18" charset="0"/>
              </a:rPr>
              <a:t>There are two categories of errors: </a:t>
            </a:r>
          </a:p>
          <a:p>
            <a:pPr marL="514350" indent="-514350" algn="just">
              <a:buAutoNum type="arabicPeriod"/>
            </a:pPr>
            <a:r>
              <a:rPr lang="en-US" sz="2800" b="1" u="sng" dirty="0">
                <a:cs typeface="Times New Roman" pitchFamily="18" charset="0"/>
              </a:rPr>
              <a:t>Compile time errors: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i="1" dirty="0">
                <a:cs typeface="Times New Roman" pitchFamily="18" charset="0"/>
              </a:rPr>
              <a:t>Syntax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i="1" dirty="0">
                <a:cs typeface="Times New Roman" pitchFamily="18" charset="0"/>
              </a:rPr>
              <a:t>errors</a:t>
            </a:r>
            <a:r>
              <a:rPr lang="en-US" sz="2800" dirty="0">
                <a:cs typeface="Times New Roman" pitchFamily="18" charset="0"/>
              </a:rPr>
              <a:t> arise because the rules of the language have not been followed. They are detected by the compiler.</a:t>
            </a:r>
          </a:p>
          <a:p>
            <a:pPr marL="514350" indent="-514350" algn="just">
              <a:buAutoNum type="arabicPeriod"/>
            </a:pPr>
            <a:endParaRPr lang="en-US" sz="2800" dirty="0">
              <a:cs typeface="Times New Roman" pitchFamily="18" charset="0"/>
            </a:endParaRPr>
          </a:p>
          <a:p>
            <a:pPr marL="514350" indent="-514350" algn="just">
              <a:buAutoNum type="arabicPeriod"/>
            </a:pPr>
            <a:r>
              <a:rPr lang="en-US" sz="2800" b="1" u="sng" dirty="0">
                <a:cs typeface="Times New Roman" pitchFamily="18" charset="0"/>
              </a:rPr>
              <a:t>Runtime errors: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i="1" dirty="0">
                <a:cs typeface="Times New Roman" pitchFamily="18" charset="0"/>
              </a:rPr>
              <a:t>Runtime errors</a:t>
            </a:r>
            <a:r>
              <a:rPr lang="en-US" sz="2800" dirty="0">
                <a:cs typeface="Times New Roman" pitchFamily="18" charset="0"/>
              </a:rPr>
              <a:t> occur while the program is running if the environment detects an operation that is impossible to carry 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990600"/>
            <a:ext cx="7886700" cy="1325563"/>
          </a:xfrm>
        </p:spPr>
        <p:txBody>
          <a:bodyPr/>
          <a:lstStyle/>
          <a:p>
            <a:r>
              <a:rPr lang="en-US" b="1" u="sng" dirty="0"/>
              <a:t>Example of Compile Time 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28650" y="2438400"/>
            <a:ext cx="7886700" cy="4351338"/>
          </a:xfrm>
        </p:spPr>
        <p:txBody>
          <a:bodyPr/>
          <a:lstStyle/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Class</a:t>
            </a:r>
            <a:r>
              <a:rPr lang="en-US" dirty="0"/>
              <a:t> Error</a:t>
            </a:r>
          </a:p>
          <a:p>
            <a:pPr>
              <a:buNone/>
            </a:pPr>
            <a:r>
              <a:rPr lang="en-US" dirty="0"/>
              <a:t>{</a:t>
            </a:r>
          </a:p>
          <a:p>
            <a:pPr>
              <a:buNone/>
            </a:pPr>
            <a:r>
              <a:rPr lang="en-US" dirty="0"/>
              <a:t>     public static void main(String </a:t>
            </a:r>
            <a:r>
              <a:rPr lang="en-US" dirty="0" err="1"/>
              <a:t>args</a:t>
            </a:r>
            <a:r>
              <a:rPr lang="en-US" dirty="0"/>
              <a:t>[])</a:t>
            </a:r>
          </a:p>
          <a:p>
            <a:pPr>
              <a:buNone/>
            </a:pPr>
            <a:r>
              <a:rPr lang="en-US" dirty="0"/>
              <a:t>    {</a:t>
            </a:r>
          </a:p>
          <a:p>
            <a:pPr>
              <a:buNone/>
            </a:pPr>
            <a:r>
              <a:rPr lang="en-US" dirty="0"/>
              <a:t>           </a:t>
            </a:r>
            <a:r>
              <a:rPr lang="en-US" dirty="0" err="1"/>
              <a:t>System.out.println</a:t>
            </a:r>
            <a:r>
              <a:rPr lang="en-US" dirty="0"/>
              <a:t>(“Hello Java”)</a:t>
            </a:r>
          </a:p>
          <a:p>
            <a:pPr>
              <a:buNone/>
            </a:pPr>
            <a:r>
              <a:rPr lang="en-US" dirty="0"/>
              <a:t>    }</a:t>
            </a:r>
          </a:p>
          <a:p>
            <a:pPr>
              <a:buNone/>
            </a:pPr>
            <a:r>
              <a:rPr lang="en-US" dirty="0"/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066800"/>
            <a:ext cx="7886700" cy="1325563"/>
          </a:xfrm>
        </p:spPr>
        <p:txBody>
          <a:bodyPr/>
          <a:lstStyle/>
          <a:p>
            <a:r>
              <a:rPr lang="en-US" b="1" u="sng" dirty="0"/>
              <a:t>Example of Runtime 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28650" y="2057400"/>
            <a:ext cx="8362950" cy="4351338"/>
          </a:xfrm>
        </p:spPr>
        <p:txBody>
          <a:bodyPr/>
          <a:lstStyle/>
          <a:p>
            <a:pPr>
              <a:buNone/>
            </a:pPr>
            <a:r>
              <a:rPr lang="en-US" sz="2800" dirty="0"/>
              <a:t>class Error</a:t>
            </a:r>
          </a:p>
          <a:p>
            <a:pPr>
              <a:buNone/>
            </a:pPr>
            <a:r>
              <a:rPr lang="en-US" sz="2800" dirty="0"/>
              <a:t>{</a:t>
            </a:r>
          </a:p>
          <a:p>
            <a:pPr>
              <a:buNone/>
            </a:pPr>
            <a:r>
              <a:rPr lang="en-US" sz="2800" dirty="0"/>
              <a:t>     public static void main(String </a:t>
            </a:r>
            <a:r>
              <a:rPr lang="en-US" sz="2800" dirty="0" err="1"/>
              <a:t>args</a:t>
            </a:r>
            <a:r>
              <a:rPr lang="en-US" sz="2800" dirty="0"/>
              <a:t>[])</a:t>
            </a:r>
          </a:p>
          <a:p>
            <a:pPr>
              <a:buNone/>
            </a:pPr>
            <a:r>
              <a:rPr lang="en-US" sz="2800" dirty="0"/>
              <a:t>    {</a:t>
            </a:r>
          </a:p>
          <a:p>
            <a:pPr>
              <a:buNone/>
            </a:pPr>
            <a:r>
              <a:rPr lang="en-US" sz="2800" dirty="0"/>
              <a:t>          </a:t>
            </a:r>
            <a:r>
              <a:rPr lang="en-US" sz="2800" dirty="0" err="1"/>
              <a:t>int</a:t>
            </a:r>
            <a:r>
              <a:rPr lang="en-US" sz="2800" dirty="0"/>
              <a:t> a=10, b=5,c=5,d;</a:t>
            </a:r>
          </a:p>
          <a:p>
            <a:pPr>
              <a:buNone/>
            </a:pPr>
            <a:r>
              <a:rPr lang="en-US" sz="2800" dirty="0"/>
              <a:t>          </a:t>
            </a:r>
            <a:r>
              <a:rPr lang="en-US" sz="2800" dirty="0">
                <a:solidFill>
                  <a:srgbClr val="FF0000"/>
                </a:solidFill>
              </a:rPr>
              <a:t>d=a/(b-c);</a:t>
            </a:r>
          </a:p>
          <a:p>
            <a:pPr>
              <a:buNone/>
            </a:pPr>
            <a:r>
              <a:rPr lang="en-US" sz="2800" dirty="0"/>
              <a:t>          </a:t>
            </a:r>
            <a:r>
              <a:rPr lang="en-US" sz="2800" dirty="0" err="1"/>
              <a:t>System.out.println</a:t>
            </a:r>
            <a:r>
              <a:rPr lang="en-US" sz="2800" dirty="0"/>
              <a:t>(“Value of d is: “ + d);</a:t>
            </a:r>
          </a:p>
          <a:p>
            <a:pPr>
              <a:buNone/>
            </a:pPr>
            <a:r>
              <a:rPr lang="en-US" sz="2800" dirty="0"/>
              <a:t>    }</a:t>
            </a:r>
          </a:p>
          <a:p>
            <a:pPr>
              <a:buNone/>
            </a:pPr>
            <a:r>
              <a:rPr lang="en-US" sz="2800" dirty="0"/>
              <a:t>}    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CF355-9252-4275-9594-BE4D63583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577" y="1066800"/>
            <a:ext cx="7886700" cy="1325563"/>
          </a:xfrm>
        </p:spPr>
        <p:txBody>
          <a:bodyPr/>
          <a:lstStyle/>
          <a:p>
            <a:r>
              <a:rPr lang="en-US" b="1" dirty="0"/>
              <a:t>Exception Handling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DC7B0-610E-4BF3-B724-314D49B70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133600"/>
            <a:ext cx="7886700" cy="4351338"/>
          </a:xfrm>
        </p:spPr>
        <p:txBody>
          <a:bodyPr>
            <a:normAutofit/>
          </a:bodyPr>
          <a:lstStyle/>
          <a:p>
            <a:pPr algn="just"/>
            <a:r>
              <a:rPr lang="en-US" sz="2800" dirty="0">
                <a:solidFill>
                  <a:schemeClr val="tx2"/>
                </a:solidFill>
              </a:rPr>
              <a:t>Exception is an </a:t>
            </a:r>
            <a:r>
              <a:rPr lang="en-US" sz="2800" dirty="0">
                <a:solidFill>
                  <a:srgbClr val="FF0000"/>
                </a:solidFill>
              </a:rPr>
              <a:t>abnormal condition </a:t>
            </a:r>
            <a:r>
              <a:rPr lang="en-US" sz="2800" dirty="0">
                <a:solidFill>
                  <a:schemeClr val="tx2"/>
                </a:solidFill>
              </a:rPr>
              <a:t>means result out of expectation. (</a:t>
            </a:r>
            <a:r>
              <a:rPr lang="en-US" sz="2800" dirty="0">
                <a:solidFill>
                  <a:srgbClr val="FF0000"/>
                </a:solidFill>
              </a:rPr>
              <a:t>run time error</a:t>
            </a:r>
            <a:r>
              <a:rPr lang="en-US" sz="2800" dirty="0">
                <a:solidFill>
                  <a:schemeClr val="tx2"/>
                </a:solidFill>
              </a:rPr>
              <a:t>) </a:t>
            </a:r>
          </a:p>
          <a:p>
            <a:pPr algn="just"/>
            <a:r>
              <a:rPr lang="en-US" sz="2800" dirty="0">
                <a:solidFill>
                  <a:schemeClr val="tx2"/>
                </a:solidFill>
              </a:rPr>
              <a:t>Exception is an event that disturbs the normal flow of the program. </a:t>
            </a:r>
          </a:p>
          <a:p>
            <a:pPr algn="just"/>
            <a:r>
              <a:rPr lang="en-US" sz="2800" dirty="0">
                <a:solidFill>
                  <a:schemeClr val="tx2"/>
                </a:solidFill>
              </a:rPr>
              <a:t>It is </a:t>
            </a:r>
            <a:r>
              <a:rPr lang="en-US" sz="2800" dirty="0">
                <a:solidFill>
                  <a:srgbClr val="FF0000"/>
                </a:solidFill>
              </a:rPr>
              <a:t>unexpected result which we do not think</a:t>
            </a:r>
            <a:r>
              <a:rPr lang="en-US" sz="2800" dirty="0">
                <a:solidFill>
                  <a:schemeClr val="tx2"/>
                </a:solidFill>
              </a:rPr>
              <a:t>. </a:t>
            </a:r>
          </a:p>
          <a:p>
            <a:pPr algn="just"/>
            <a:r>
              <a:rPr lang="en-US" sz="2800" dirty="0">
                <a:solidFill>
                  <a:schemeClr val="tx2"/>
                </a:solidFill>
              </a:rPr>
              <a:t>Example: Suppose we have defined array with size 5 but we are trying to access array of index 6. So, in this situation exception occurs.</a:t>
            </a:r>
          </a:p>
        </p:txBody>
      </p:sp>
    </p:spTree>
    <p:extLst>
      <p:ext uri="{BB962C8B-B14F-4D97-AF65-F5344CB8AC3E}">
        <p14:creationId xmlns:p14="http://schemas.microsoft.com/office/powerpoint/2010/main" val="3814688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26E86-7B69-484B-A062-69289CE6F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200" y="609600"/>
            <a:ext cx="8763000" cy="808038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br>
              <a:rPr lang="en-US" sz="3200" b="1" dirty="0"/>
            </a:br>
            <a:r>
              <a:rPr lang="en-US" sz="3200" b="1" dirty="0"/>
              <a:t>Exception Handling where exceptions may occur</a:t>
            </a:r>
            <a:br>
              <a:rPr lang="en-US" sz="3200" b="1" dirty="0"/>
            </a:br>
            <a:endParaRPr lang="en-US" sz="3200" dirty="0"/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F6DCD523-1CDD-47C5-BA76-48F2E93DD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8458200" cy="4873625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int a=50/0; </a:t>
            </a:r>
            <a:r>
              <a:rPr lang="en-US" altLang="en-US" sz="2800" dirty="0">
                <a:solidFill>
                  <a:srgbClr val="FF0000"/>
                </a:solidFill>
              </a:rPr>
              <a:t>//ArithmeticException</a:t>
            </a:r>
          </a:p>
          <a:p>
            <a:pPr eaLnBrk="1" hangingPunct="1"/>
            <a:r>
              <a:rPr lang="en-US" altLang="en-US" sz="2800" dirty="0"/>
              <a:t>String s=null; System.out.println(</a:t>
            </a:r>
            <a:r>
              <a:rPr lang="en-US" altLang="en-US" sz="2800" dirty="0" err="1"/>
              <a:t>s.length</a:t>
            </a:r>
            <a:r>
              <a:rPr lang="en-US" altLang="en-US" sz="2800" dirty="0"/>
              <a:t>()); </a:t>
            </a:r>
          </a:p>
          <a:p>
            <a:pPr marL="0" indent="0" eaLnBrk="1" hangingPunct="1">
              <a:buNone/>
            </a:pPr>
            <a:r>
              <a:rPr lang="en-US" altLang="en-US" sz="2800" dirty="0">
                <a:solidFill>
                  <a:srgbClr val="FF0000"/>
                </a:solidFill>
              </a:rPr>
              <a:t>    // </a:t>
            </a:r>
            <a:r>
              <a:rPr lang="en-US" altLang="en-US" sz="2800" dirty="0" err="1">
                <a:solidFill>
                  <a:srgbClr val="FF0000"/>
                </a:solidFill>
              </a:rPr>
              <a:t>NullPointerException</a:t>
            </a:r>
            <a:endParaRPr lang="en-US" altLang="en-US" sz="2800" dirty="0">
              <a:solidFill>
                <a:srgbClr val="FF0000"/>
              </a:solidFill>
            </a:endParaRPr>
          </a:p>
          <a:p>
            <a:pPr eaLnBrk="1" hangingPunct="1"/>
            <a:r>
              <a:rPr lang="en-US" altLang="en-US" sz="2800" dirty="0"/>
              <a:t>String s="abc"; 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800" dirty="0"/>
              <a:t>    int i=</a:t>
            </a:r>
            <a:r>
              <a:rPr lang="en-US" altLang="en-US" sz="2800" dirty="0" err="1"/>
              <a:t>Integer.parseInt</a:t>
            </a:r>
            <a:r>
              <a:rPr lang="en-US" altLang="en-US" sz="2800" dirty="0"/>
              <a:t>(s);   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800" dirty="0">
                <a:solidFill>
                  <a:srgbClr val="FF0000"/>
                </a:solidFill>
              </a:rPr>
              <a:t>    // </a:t>
            </a:r>
            <a:r>
              <a:rPr lang="en-US" altLang="en-US" sz="2800" dirty="0" err="1">
                <a:solidFill>
                  <a:srgbClr val="FF0000"/>
                </a:solidFill>
              </a:rPr>
              <a:t>NumberFormatException</a:t>
            </a:r>
            <a:endParaRPr lang="en-US" altLang="en-US" sz="2800" dirty="0">
              <a:solidFill>
                <a:srgbClr val="FF0000"/>
              </a:solidFill>
            </a:endParaRPr>
          </a:p>
          <a:p>
            <a:pPr eaLnBrk="1" hangingPunct="1"/>
            <a:r>
              <a:rPr lang="en-US" altLang="en-US" sz="2800" dirty="0"/>
              <a:t>int a[]=new int[5]; a[10]=50; </a:t>
            </a:r>
          </a:p>
          <a:p>
            <a:pPr marL="0" indent="0" eaLnBrk="1" hangingPunct="1">
              <a:buNone/>
            </a:pPr>
            <a:r>
              <a:rPr lang="en-US" altLang="en-US" sz="2800" dirty="0">
                <a:solidFill>
                  <a:srgbClr val="FF0000"/>
                </a:solidFill>
              </a:rPr>
              <a:t>    // </a:t>
            </a:r>
            <a:r>
              <a:rPr lang="en-US" altLang="en-US" sz="2800" dirty="0" err="1">
                <a:solidFill>
                  <a:srgbClr val="FF0000"/>
                </a:solidFill>
              </a:rPr>
              <a:t>ArrayIndexOutOfBoundsException</a:t>
            </a:r>
            <a:endParaRPr lang="en-US" altLang="en-US" sz="2800" dirty="0">
              <a:solidFill>
                <a:srgbClr val="FF0000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/>
            <a:endParaRPr lang="en-US" altLang="en-US" sz="2800" dirty="0"/>
          </a:p>
        </p:txBody>
      </p:sp>
      <p:sp>
        <p:nvSpPr>
          <p:cNvPr id="9220" name="Slide Number Placeholder 3">
            <a:extLst>
              <a:ext uri="{FF2B5EF4-FFF2-40B4-BE49-F238E27FC236}">
                <a16:creationId xmlns:a16="http://schemas.microsoft.com/office/drawing/2014/main" id="{64DA38DD-F3A3-4E92-9574-392489B0C3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DA7E2C-5777-4515-9F17-7767B43DF6F0}" type="slidenum">
              <a:rPr lang="en-US" altLang="en-US" smtClean="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265237"/>
            <a:ext cx="7886700" cy="1325563"/>
          </a:xfrm>
        </p:spPr>
        <p:txBody>
          <a:bodyPr/>
          <a:lstStyle/>
          <a:p>
            <a:r>
              <a:rPr lang="en-US" b="1" u="sng" dirty="0"/>
              <a:t>Types of Exceptions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128642586"/>
              </p:ext>
            </p:extLst>
          </p:nvPr>
        </p:nvGraphicFramePr>
        <p:xfrm>
          <a:off x="838200" y="2590800"/>
          <a:ext cx="7772400" cy="266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u="sng" dirty="0">
                          <a:solidFill>
                            <a:srgbClr val="FF0000"/>
                          </a:solidFill>
                        </a:rPr>
                        <a:t>Exception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sng" dirty="0">
                          <a:solidFill>
                            <a:srgbClr val="FF0000"/>
                          </a:solidFill>
                        </a:rPr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sz="18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ArithmeticException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Arithmetic error, such as divide-by-zero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sz="18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ArrayIndexOutOfBoundsException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Array index is out-of-bounds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sz="18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ArrayStoreException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Assignment to an array element of an incompatible type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sz="18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NumberFormatException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Invalid conversion of a string to a numeric format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268B3-497D-4957-8791-233387BDF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90600"/>
            <a:ext cx="8229600" cy="1325563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/>
              <a:t>Five keywords used in Exception handling:</a:t>
            </a:r>
            <a:br>
              <a:rPr lang="en-US" b="1" dirty="0"/>
            </a:br>
            <a:endParaRPr lang="en-US" dirty="0"/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845FA766-DD45-4C14-9F6C-8A6E849EA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57248"/>
            <a:ext cx="8229600" cy="452596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IN" b="1" dirty="0">
                <a:solidFill>
                  <a:srgbClr val="FF0000"/>
                </a:solidFill>
              </a:rPr>
              <a:t>try</a:t>
            </a:r>
            <a:r>
              <a:rPr lang="en-IN" dirty="0"/>
              <a:t> – Defines a block where an exception might occur.</a:t>
            </a:r>
          </a:p>
          <a:p>
            <a:pPr algn="just"/>
            <a:r>
              <a:rPr lang="en-IN" b="1" dirty="0">
                <a:solidFill>
                  <a:srgbClr val="FF0000"/>
                </a:solidFill>
              </a:rPr>
              <a:t>catch</a:t>
            </a:r>
            <a:r>
              <a:rPr lang="en-IN" dirty="0"/>
              <a:t> – Handles the exception.</a:t>
            </a:r>
          </a:p>
          <a:p>
            <a:pPr algn="just"/>
            <a:r>
              <a:rPr lang="en-IN" b="1" dirty="0">
                <a:solidFill>
                  <a:srgbClr val="FF0000"/>
                </a:solidFill>
              </a:rPr>
              <a:t>throw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/>
              <a:t>– Used to throw an exception explicitly.</a:t>
            </a:r>
          </a:p>
          <a:p>
            <a:pPr algn="just"/>
            <a:r>
              <a:rPr lang="en-IN" b="1" dirty="0">
                <a:solidFill>
                  <a:srgbClr val="FF0000"/>
                </a:solidFill>
              </a:rPr>
              <a:t>throws</a:t>
            </a:r>
            <a:r>
              <a:rPr lang="en-IN" dirty="0"/>
              <a:t> – Declares exceptions that a method might throw.</a:t>
            </a:r>
          </a:p>
          <a:p>
            <a:pPr algn="just"/>
            <a:r>
              <a:rPr lang="en-IN" b="1" dirty="0">
                <a:solidFill>
                  <a:srgbClr val="FF0000"/>
                </a:solidFill>
              </a:rPr>
              <a:t>finally</a:t>
            </a:r>
            <a:r>
              <a:rPr lang="en-IN" dirty="0"/>
              <a:t> – A block that always executes after try and catch, whether an exception occurs or not.</a:t>
            </a:r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111AE563-495C-42F4-8354-E725A9F8C2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DA7E2C-5777-4515-9F17-7767B43DF6F0}" type="slidenum">
              <a:rPr lang="en-US" altLang="en-US" smtClean="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77D9F-BCCC-4F78-1E96-59CE5F019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Example: ArithmeticException      (Divide by Zero)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71AEF-D5FC-3130-91A1-A7AD82175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819400"/>
            <a:ext cx="7886700" cy="373866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public class JavaExceptionExample {  </a:t>
            </a:r>
          </a:p>
          <a:p>
            <a:pPr marL="0" indent="0">
              <a:buNone/>
            </a:pPr>
            <a:r>
              <a:rPr lang="en-US" dirty="0"/>
              <a:t>  public static void main(String </a:t>
            </a:r>
            <a:r>
              <a:rPr lang="en-US" dirty="0" err="1"/>
              <a:t>args</a:t>
            </a:r>
            <a:r>
              <a:rPr lang="en-US" dirty="0"/>
              <a:t>[]){  </a:t>
            </a:r>
          </a:p>
          <a:p>
            <a:pPr marL="0" indent="0">
              <a:buNone/>
            </a:pPr>
            <a:r>
              <a:rPr lang="en-US" dirty="0"/>
              <a:t>   </a:t>
            </a:r>
            <a:r>
              <a:rPr lang="en-US" dirty="0">
                <a:solidFill>
                  <a:srgbClr val="FF0000"/>
                </a:solidFill>
              </a:rPr>
              <a:t>try</a:t>
            </a:r>
            <a:r>
              <a:rPr lang="en-US" dirty="0"/>
              <a:t>{  </a:t>
            </a:r>
          </a:p>
          <a:p>
            <a:pPr marL="0" indent="0">
              <a:buNone/>
            </a:pPr>
            <a:r>
              <a:rPr lang="en-US" dirty="0"/>
              <a:t>      //code that may raise exception  </a:t>
            </a:r>
          </a:p>
          <a:p>
            <a:pPr marL="0" indent="0">
              <a:buNone/>
            </a:pPr>
            <a:r>
              <a:rPr lang="en-US" dirty="0"/>
              <a:t>      int data=100/0;  </a:t>
            </a:r>
          </a:p>
          <a:p>
            <a:pPr marL="0" indent="0">
              <a:buNone/>
            </a:pPr>
            <a:r>
              <a:rPr lang="en-US" dirty="0"/>
              <a:t>   }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catch</a:t>
            </a:r>
            <a:r>
              <a:rPr lang="en-US" dirty="0"/>
              <a:t>(ArithmeticException e) {System.out.println(e);}  </a:t>
            </a:r>
          </a:p>
          <a:p>
            <a:pPr marL="0" indent="0">
              <a:buNone/>
            </a:pPr>
            <a:r>
              <a:rPr lang="en-US" dirty="0"/>
              <a:t>   //rest code of the program   </a:t>
            </a:r>
          </a:p>
          <a:p>
            <a:pPr marL="0" indent="0">
              <a:buNone/>
            </a:pPr>
            <a:r>
              <a:rPr lang="en-US" dirty="0"/>
              <a:t>   </a:t>
            </a:r>
            <a:r>
              <a:rPr lang="en-US" dirty="0" err="1"/>
              <a:t>System.out.println</a:t>
            </a:r>
            <a:r>
              <a:rPr lang="en-US" dirty="0"/>
              <a:t>("rest of the code...");  </a:t>
            </a:r>
          </a:p>
          <a:p>
            <a:pPr marL="0" indent="0">
              <a:buNone/>
            </a:pPr>
            <a:r>
              <a:rPr lang="en-US" dirty="0"/>
              <a:t>  }  </a:t>
            </a:r>
          </a:p>
          <a:p>
            <a:pPr marL="0" indent="0">
              <a:buNone/>
            </a:pPr>
            <a:r>
              <a:rPr lang="en-US" dirty="0"/>
              <a:t>}  </a:t>
            </a:r>
          </a:p>
        </p:txBody>
      </p:sp>
    </p:spTree>
    <p:extLst>
      <p:ext uri="{BB962C8B-B14F-4D97-AF65-F5344CB8AC3E}">
        <p14:creationId xmlns:p14="http://schemas.microsoft.com/office/powerpoint/2010/main" val="2263848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23456-0B20-391D-D8A1-8A09021B7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68892-0537-BAEA-2615-FF7D311C4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716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Example: ArithmeticException       </a:t>
            </a:r>
            <a:br>
              <a:rPr lang="en-US" dirty="0"/>
            </a:br>
            <a:r>
              <a:rPr lang="en-US" sz="3100" dirty="0"/>
              <a:t>(Divide by Zero until denominator is non-zero)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3988496-29F5-F16E-71C0-B410C4F14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895600"/>
            <a:ext cx="78867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Click here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1116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01C0F-D6D0-4C61-B082-3C4BA6992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1037"/>
            <a:ext cx="7886700" cy="1325563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br>
              <a:rPr lang="en-US" b="1" dirty="0"/>
            </a:br>
            <a:r>
              <a:rPr lang="en-US" b="1" dirty="0"/>
              <a:t>finally block</a:t>
            </a:r>
            <a:br>
              <a:rPr lang="en-US" b="1" dirty="0"/>
            </a:br>
            <a:endParaRPr lang="en-US" dirty="0"/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616EC7AF-9D53-45FE-BE53-EA3A7E39C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370137"/>
            <a:ext cx="7886700" cy="4351338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sz="2800" dirty="0">
                <a:solidFill>
                  <a:srgbClr val="002060"/>
                </a:solidFill>
              </a:rPr>
              <a:t>The finally block is a block that is always executed. It is mainly used to perform some important tasks such as closing connection, stream etc. </a:t>
            </a:r>
          </a:p>
          <a:p>
            <a:pPr algn="just" eaLnBrk="1" hangingPunct="1"/>
            <a:r>
              <a:rPr lang="en-US" altLang="en-US" sz="2800" b="1" dirty="0">
                <a:solidFill>
                  <a:srgbClr val="002060"/>
                </a:solidFill>
              </a:rPr>
              <a:t>Rule: </a:t>
            </a:r>
            <a:r>
              <a:rPr lang="en-US" altLang="en-US" sz="2800" dirty="0">
                <a:solidFill>
                  <a:srgbClr val="002060"/>
                </a:solidFill>
              </a:rPr>
              <a:t>For each try block there can be zero or more catch blocks, but only one finally block.</a:t>
            </a:r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C4D99B5F-E48C-4559-9402-90B4B031C3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DA7E2C-5777-4515-9F17-7767B43DF6F0}" type="slidenum">
              <a:rPr lang="en-US" altLang="en-US" smtClean="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01C0F-D6D0-4C61-B082-3C4BA6992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17380"/>
            <a:ext cx="7886700" cy="1325563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br>
              <a:rPr lang="en-US" b="1" dirty="0"/>
            </a:br>
            <a:r>
              <a:rPr lang="en-US" b="1" dirty="0"/>
              <a:t>finally block</a:t>
            </a:r>
            <a:br>
              <a:rPr lang="en-US" b="1" dirty="0"/>
            </a:br>
            <a:endParaRPr lang="en-US" dirty="0"/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616EC7AF-9D53-45FE-BE53-EA3A7E39C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187574"/>
            <a:ext cx="7886700" cy="4351338"/>
          </a:xfrm>
        </p:spPr>
        <p:txBody>
          <a:bodyPr/>
          <a:lstStyle/>
          <a:p>
            <a:pPr marL="0" indent="0" algn="just" eaLnBrk="1" hangingPunct="1">
              <a:buNone/>
            </a:pPr>
            <a:r>
              <a:rPr lang="en-US" i="0" dirty="0">
                <a:solidFill>
                  <a:srgbClr val="273239"/>
                </a:solidFill>
                <a:effectLst/>
                <a:latin typeface="urw-din"/>
              </a:rPr>
              <a:t>There are 3 possible cases where finally block can be used:</a:t>
            </a:r>
          </a:p>
          <a:p>
            <a:pPr marL="0" indent="0" algn="just" eaLnBrk="1" hangingPunct="1">
              <a:buNone/>
            </a:pPr>
            <a:r>
              <a:rPr lang="en-US" b="1" dirty="0"/>
              <a:t>Case 1: </a:t>
            </a:r>
            <a:r>
              <a:rPr lang="en-US" dirty="0"/>
              <a:t>When an exception does not rise </a:t>
            </a:r>
          </a:p>
          <a:p>
            <a:pPr marL="0" indent="0" algn="just" eaLnBrk="1" hangingPunct="1">
              <a:buNone/>
            </a:pPr>
            <a:r>
              <a:rPr lang="en-US" b="1" dirty="0"/>
              <a:t>Case 2: </a:t>
            </a:r>
            <a:r>
              <a:rPr lang="en-US" dirty="0"/>
              <a:t>When the exception rises and handled by the catch block</a:t>
            </a:r>
            <a:endParaRPr lang="en-US" altLang="en-US" dirty="0"/>
          </a:p>
          <a:p>
            <a:pPr marL="0" indent="0" algn="just" eaLnBrk="1" hangingPunct="1">
              <a:buNone/>
            </a:pPr>
            <a:r>
              <a:rPr lang="en-US" b="1" dirty="0"/>
              <a:t>Case 3: </a:t>
            </a:r>
            <a:r>
              <a:rPr lang="en-US" dirty="0"/>
              <a:t>When exception rise and not handled by the catch block </a:t>
            </a:r>
            <a:endParaRPr lang="en-US" altLang="en-US" dirty="0"/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C4D99B5F-E48C-4559-9402-90B4B031C3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DA7E2C-5777-4515-9F17-7767B43DF6F0}" type="slidenum">
              <a:rPr lang="en-US" altLang="en-US" smtClean="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7599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01C0F-D6D0-4C61-B082-3C4BA6992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7268" y="457200"/>
            <a:ext cx="5695950" cy="1325563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br>
              <a:rPr lang="en-US" b="1" dirty="0"/>
            </a:br>
            <a:r>
              <a:rPr lang="en-US" b="1" dirty="0"/>
              <a:t>finally block : Example</a:t>
            </a:r>
            <a:br>
              <a:rPr lang="en-US" b="1" dirty="0"/>
            </a:br>
            <a:endParaRPr lang="en-US" dirty="0"/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C4D99B5F-E48C-4559-9402-90B4B031C3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DA7E2C-5777-4515-9F17-7767B43DF6F0}" type="slidenum">
              <a:rPr lang="en-US" altLang="en-US" smtClean="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665ADB-3C84-CCCC-D528-B3A5C9CC33A0}"/>
              </a:ext>
            </a:extLst>
          </p:cNvPr>
          <p:cNvSpPr txBox="1"/>
          <p:nvPr/>
        </p:nvSpPr>
        <p:spPr>
          <a:xfrm>
            <a:off x="342900" y="1524000"/>
            <a:ext cx="8458200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java.io.*;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DemoFinally{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main(String[] args)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System.out.println(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"inside try block"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Throw an Arithmetic exception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System.out.println(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34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(ArithmeticException e) {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System.out.println(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"catch : exception handled."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Always execute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finally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 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     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System.out.println(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"finally : i execute always."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9841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01C0F-D6D0-4C61-B082-3C4BA6992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8362950" cy="1325563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br>
              <a:rPr lang="en-US" b="1" dirty="0"/>
            </a:br>
            <a:r>
              <a:rPr lang="en-US" b="1" dirty="0"/>
              <a:t>One Try can have Multiple Catch</a:t>
            </a:r>
            <a:br>
              <a:rPr lang="en-US" b="1" dirty="0"/>
            </a:br>
            <a:endParaRPr lang="en-US" dirty="0"/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C4D99B5F-E48C-4559-9402-90B4B031C3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DA7E2C-5777-4515-9F17-7767B43DF6F0}" type="slidenum">
              <a:rPr lang="en-US" altLang="en-US" smtClean="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4E2FF-2A40-5E64-5D40-562EF868FF3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66800" y="1828800"/>
            <a:ext cx="7772400" cy="5257800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dirty="0"/>
              <a:t>try</a:t>
            </a:r>
          </a:p>
          <a:p>
            <a:pPr>
              <a:buNone/>
            </a:pPr>
            <a:r>
              <a:rPr lang="en-US" dirty="0"/>
              <a:t>   {</a:t>
            </a:r>
          </a:p>
          <a:p>
            <a:pPr>
              <a:buNone/>
            </a:pPr>
            <a:r>
              <a:rPr lang="en-US" dirty="0"/>
              <a:t>       statement;</a:t>
            </a:r>
          </a:p>
          <a:p>
            <a:pPr>
              <a:buNone/>
            </a:pPr>
            <a:r>
              <a:rPr lang="en-US" dirty="0"/>
              <a:t>    }   </a:t>
            </a:r>
          </a:p>
          <a:p>
            <a:pPr>
              <a:buNone/>
            </a:pPr>
            <a:r>
              <a:rPr lang="en-US" dirty="0"/>
              <a:t>   catch(Exception-type-1 e)</a:t>
            </a:r>
          </a:p>
          <a:p>
            <a:pPr>
              <a:buNone/>
            </a:pPr>
            <a:r>
              <a:rPr lang="en-US" dirty="0"/>
              <a:t>  {</a:t>
            </a:r>
          </a:p>
          <a:p>
            <a:pPr>
              <a:buNone/>
            </a:pPr>
            <a:r>
              <a:rPr lang="en-US" dirty="0"/>
              <a:t>      statement;   </a:t>
            </a:r>
          </a:p>
          <a:p>
            <a:pPr>
              <a:buNone/>
            </a:pPr>
            <a:r>
              <a:rPr lang="en-US" dirty="0"/>
              <a:t>  }  </a:t>
            </a:r>
          </a:p>
          <a:p>
            <a:pPr>
              <a:buNone/>
            </a:pPr>
            <a:r>
              <a:rPr lang="en-US" dirty="0"/>
              <a:t>   catch(Exception-type-2 e)</a:t>
            </a:r>
          </a:p>
          <a:p>
            <a:pPr>
              <a:buNone/>
            </a:pPr>
            <a:r>
              <a:rPr lang="en-US" dirty="0"/>
              <a:t>  {</a:t>
            </a:r>
          </a:p>
          <a:p>
            <a:pPr>
              <a:buNone/>
            </a:pPr>
            <a:r>
              <a:rPr lang="en-US" dirty="0"/>
              <a:t>      statement;</a:t>
            </a:r>
          </a:p>
          <a:p>
            <a:pPr>
              <a:buNone/>
            </a:pPr>
            <a:r>
              <a:rPr lang="en-US" dirty="0"/>
              <a:t>  }</a:t>
            </a:r>
          </a:p>
          <a:p>
            <a:pPr>
              <a:buNone/>
            </a:pPr>
            <a:r>
              <a:rPr lang="en-US" dirty="0"/>
              <a:t>  catch(Exception-type-N e)</a:t>
            </a:r>
          </a:p>
          <a:p>
            <a:pPr>
              <a:buNone/>
            </a:pPr>
            <a:r>
              <a:rPr lang="en-US" dirty="0"/>
              <a:t>{</a:t>
            </a:r>
          </a:p>
          <a:p>
            <a:pPr>
              <a:buNone/>
            </a:pPr>
            <a:r>
              <a:rPr lang="en-US" dirty="0"/>
              <a:t>     statement;</a:t>
            </a:r>
          </a:p>
          <a:p>
            <a:pPr>
              <a:buNone/>
            </a:pPr>
            <a:r>
              <a:rPr lang="en-US" dirty="0"/>
              <a:t> }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9640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371600"/>
            <a:ext cx="8686800" cy="639762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Example for Multiple Catch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90600" y="3109119"/>
            <a:ext cx="7772400" cy="63976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>
                <a:hlinkClick r:id="rId2"/>
              </a:rPr>
              <a:t>Click here…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3DD32-F586-406A-9B41-FC9EC5C16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79448"/>
            <a:ext cx="7886700" cy="1325563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br>
              <a:rPr lang="en-US" b="1" dirty="0"/>
            </a:br>
            <a:r>
              <a:rPr lang="en-US" b="1" dirty="0"/>
              <a:t>throw/throws keyword</a:t>
            </a:r>
            <a:br>
              <a:rPr lang="en-US" b="1" dirty="0"/>
            </a:br>
            <a:endParaRPr lang="en-US" dirty="0"/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D1F9EBCA-0A1A-4AE8-8FD2-2A0D63FEC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187574"/>
            <a:ext cx="7886700" cy="4351338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sz="2800" dirty="0">
                <a:solidFill>
                  <a:srgbClr val="002060"/>
                </a:solidFill>
              </a:rPr>
              <a:t>If a method does not handle a checked exception, the method must declare it using the </a:t>
            </a:r>
            <a:r>
              <a:rPr lang="en-US" altLang="en-US" sz="2800" b="1" dirty="0">
                <a:solidFill>
                  <a:srgbClr val="002060"/>
                </a:solidFill>
              </a:rPr>
              <a:t>throws </a:t>
            </a:r>
            <a:r>
              <a:rPr lang="en-US" altLang="en-US" sz="2800" dirty="0">
                <a:solidFill>
                  <a:srgbClr val="002060"/>
                </a:solidFill>
              </a:rPr>
              <a:t>keyword. The throws keyword appears at the end of a method's signature. </a:t>
            </a:r>
          </a:p>
          <a:p>
            <a:pPr algn="just" eaLnBrk="1" hangingPunct="1"/>
            <a:r>
              <a:rPr lang="en-US" altLang="en-US" sz="2800" dirty="0">
                <a:solidFill>
                  <a:srgbClr val="002060"/>
                </a:solidFill>
              </a:rPr>
              <a:t>The throw keyword is used to explicitly throw an exception. The throw keyword is mainly used to throw custom exception.</a:t>
            </a:r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41AC38BC-4C16-4D77-8499-0EF3786B84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DA7E2C-5777-4515-9F17-7767B43DF6F0}" type="slidenum">
              <a:rPr lang="en-US" altLang="en-US" smtClean="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BDD7E-D76E-AFAC-472B-C48309F41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63D2B-D53C-FEC7-323E-2646EB5E5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br>
              <a:rPr lang="en-US" b="1" dirty="0"/>
            </a:br>
            <a:r>
              <a:rPr lang="en-US" b="1" dirty="0"/>
              <a:t>throw keyword</a:t>
            </a:r>
            <a:br>
              <a:rPr lang="en-US" b="1" dirty="0"/>
            </a:br>
            <a:endParaRPr lang="en-US" dirty="0"/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F7AC2314-E635-DBD7-E4E9-D3E3656DF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sz="2400" b="1" dirty="0"/>
              <a:t>throw: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Used to actually throw an exception.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You use it inside a method or block of code.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Syntax: throw new ExceptionType("Message");</a:t>
            </a:r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4D28BCB8-E00D-10E6-0484-A23013AD54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DA7E2C-5777-4515-9F17-7767B43DF6F0}" type="slidenum">
              <a:rPr lang="en-US" altLang="en-US" smtClean="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F1AC21-6647-2F9A-223A-7045CF381C2D}"/>
              </a:ext>
            </a:extLst>
          </p:cNvPr>
          <p:cNvSpPr txBox="1"/>
          <p:nvPr/>
        </p:nvSpPr>
        <p:spPr>
          <a:xfrm>
            <a:off x="762000" y="3873120"/>
            <a:ext cx="8229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public void checkAge(int age) </a:t>
            </a:r>
          </a:p>
          <a:p>
            <a:r>
              <a:rPr lang="en-US" sz="2000" dirty="0">
                <a:solidFill>
                  <a:srgbClr val="FF0000"/>
                </a:solidFill>
              </a:rPr>
              <a:t>{</a:t>
            </a:r>
          </a:p>
          <a:p>
            <a:r>
              <a:rPr lang="en-US" sz="2000" dirty="0">
                <a:solidFill>
                  <a:srgbClr val="FF0000"/>
                </a:solidFill>
              </a:rPr>
              <a:t>    if (age &lt; 18) </a:t>
            </a:r>
          </a:p>
          <a:p>
            <a:r>
              <a:rPr lang="en-US" sz="2000" dirty="0">
                <a:solidFill>
                  <a:srgbClr val="FF0000"/>
                </a:solidFill>
              </a:rPr>
              <a:t>    {</a:t>
            </a:r>
          </a:p>
          <a:p>
            <a:r>
              <a:rPr lang="en-US" sz="2000" dirty="0">
                <a:solidFill>
                  <a:srgbClr val="FF0000"/>
                </a:solidFill>
              </a:rPr>
              <a:t>        throw new IllegalArgumentException("Age must be 18 or older.");</a:t>
            </a:r>
          </a:p>
          <a:p>
            <a:r>
              <a:rPr lang="en-US" sz="2000" dirty="0">
                <a:solidFill>
                  <a:srgbClr val="FF0000"/>
                </a:solidFill>
              </a:rPr>
              <a:t>    }</a:t>
            </a:r>
          </a:p>
          <a:p>
            <a:r>
              <a:rPr lang="en-US" sz="2000" dirty="0">
                <a:solidFill>
                  <a:srgbClr val="FF0000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636003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3DD32-F586-406A-9B41-FC9EC5C16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455583"/>
            <a:ext cx="8229600" cy="11430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br>
              <a:rPr lang="en-US" b="1" dirty="0"/>
            </a:br>
            <a:r>
              <a:rPr lang="en-US" b="1" dirty="0"/>
              <a:t>throw Example</a:t>
            </a:r>
            <a:br>
              <a:rPr lang="en-US" b="1" dirty="0"/>
            </a:br>
            <a:endParaRPr lang="en-US" dirty="0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41AC38BC-4C16-4D77-8499-0EF3786B84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DA7E2C-5777-4515-9F17-7767B43DF6F0}" type="slidenum">
              <a:rPr lang="en-US" altLang="en-US" smtClean="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CE2F96-E7C4-6C65-A502-3CB64F682B75}"/>
              </a:ext>
            </a:extLst>
          </p:cNvPr>
          <p:cNvSpPr txBox="1"/>
          <p:nvPr/>
        </p:nvSpPr>
        <p:spPr>
          <a:xfrm>
            <a:off x="228600" y="1813408"/>
            <a:ext cx="86868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TestThrow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{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  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checkNum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int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num) {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if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(num &lt; </a:t>
            </a:r>
            <a:r>
              <a:rPr lang="en-US" dirty="0">
                <a:solidFill>
                  <a:srgbClr val="C00000"/>
                </a:solidFill>
                <a:latin typeface="inter-regular"/>
              </a:rPr>
              <a:t>0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) {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       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throw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ArithmeticException(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"\</a:t>
            </a:r>
            <a:r>
              <a:rPr lang="en-US" b="0" i="0" dirty="0" err="1">
                <a:solidFill>
                  <a:srgbClr val="0000FF"/>
                </a:solidFill>
                <a:effectLst/>
                <a:latin typeface="inter-regular"/>
              </a:rPr>
              <a:t>nNumber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 is negative, cannot calculate square"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    }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else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{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        System.out.println(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"Square of 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+ num + 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 is 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+ (num*num));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    }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}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US" b="0" i="0" dirty="0">
                <a:solidFill>
                  <a:srgbClr val="008200"/>
                </a:solidFill>
                <a:effectLst/>
                <a:latin typeface="inter-regular"/>
              </a:rPr>
              <a:t>//main method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main(String[] args) {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       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TestThrow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obj =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TestThrow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();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       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obj.checkNum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(-</a:t>
            </a:r>
            <a:r>
              <a:rPr lang="en-US" b="0" i="0" dirty="0">
                <a:solidFill>
                  <a:srgbClr val="C00000"/>
                </a:solidFill>
                <a:effectLst/>
                <a:latin typeface="inter-regular"/>
              </a:rPr>
              <a:t>3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        System.out.println(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"Rest of the code.."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}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422F3B-D264-71AB-A757-3E5295144803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7992" y="5257800"/>
            <a:ext cx="9144000" cy="144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688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569A1-F872-23B6-044A-903C20575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C874-D165-E3AE-269E-87CD4A7FC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br>
              <a:rPr lang="en-US" b="1" dirty="0"/>
            </a:br>
            <a:r>
              <a:rPr lang="en-US" b="1" dirty="0"/>
              <a:t>throws keyword</a:t>
            </a:r>
            <a:br>
              <a:rPr lang="en-US" b="1" dirty="0"/>
            </a:br>
            <a:endParaRPr lang="en-US" dirty="0"/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994CA5FB-C5F3-6F46-2DB0-BF8DE1940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7193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2400" b="1" dirty="0"/>
              <a:t>throws: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Used in a method signature to declare that the method might throw an exception.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It's a warning to the caller that they need to handle or declare the exception too.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Syntax: returnType methodName() throws ExceptionType { }</a:t>
            </a:r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0216E40A-9F37-9053-3700-EA87FFCB59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DA7E2C-5777-4515-9F17-7767B43DF6F0}" type="slidenum">
              <a:rPr lang="en-US" altLang="en-US" smtClean="0"/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2DA6C8-CEB5-6C0C-58E5-3C8A09E1A0D1}"/>
              </a:ext>
            </a:extLst>
          </p:cNvPr>
          <p:cNvSpPr txBox="1"/>
          <p:nvPr/>
        </p:nvSpPr>
        <p:spPr>
          <a:xfrm>
            <a:off x="762000" y="4879717"/>
            <a:ext cx="71628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public void </a:t>
            </a:r>
            <a:r>
              <a:rPr lang="en-US" sz="2000" dirty="0" err="1">
                <a:solidFill>
                  <a:srgbClr val="FF0000"/>
                </a:solidFill>
              </a:rPr>
              <a:t>readFile</a:t>
            </a:r>
            <a:r>
              <a:rPr lang="en-US" sz="2000" dirty="0">
                <a:solidFill>
                  <a:srgbClr val="FF0000"/>
                </a:solidFill>
              </a:rPr>
              <a:t>(String </a:t>
            </a:r>
            <a:r>
              <a:rPr lang="en-US" sz="2000" dirty="0" err="1">
                <a:solidFill>
                  <a:srgbClr val="FF0000"/>
                </a:solidFill>
              </a:rPr>
              <a:t>fileName</a:t>
            </a:r>
            <a:r>
              <a:rPr lang="en-US" sz="2000" dirty="0">
                <a:solidFill>
                  <a:srgbClr val="FF0000"/>
                </a:solidFill>
              </a:rPr>
              <a:t>) throws </a:t>
            </a:r>
            <a:r>
              <a:rPr lang="en-US" sz="2000" dirty="0" err="1">
                <a:solidFill>
                  <a:srgbClr val="FF0000"/>
                </a:solidFill>
              </a:rPr>
              <a:t>IOException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</a:p>
          <a:p>
            <a:r>
              <a:rPr lang="en-US" sz="2000" dirty="0">
                <a:solidFill>
                  <a:srgbClr val="FF0000"/>
                </a:solidFill>
              </a:rPr>
              <a:t>{</a:t>
            </a:r>
          </a:p>
          <a:p>
            <a:r>
              <a:rPr lang="en-US" sz="2000" dirty="0">
                <a:solidFill>
                  <a:srgbClr val="FF0000"/>
                </a:solidFill>
              </a:rPr>
              <a:t>    </a:t>
            </a:r>
            <a:r>
              <a:rPr lang="en-US" sz="2000" dirty="0" err="1">
                <a:solidFill>
                  <a:srgbClr val="FF0000"/>
                </a:solidFill>
              </a:rPr>
              <a:t>FileReader</a:t>
            </a:r>
            <a:r>
              <a:rPr lang="en-US" sz="2000" dirty="0">
                <a:solidFill>
                  <a:srgbClr val="FF0000"/>
                </a:solidFill>
              </a:rPr>
              <a:t> file = new </a:t>
            </a:r>
            <a:r>
              <a:rPr lang="en-US" sz="2000" dirty="0" err="1">
                <a:solidFill>
                  <a:srgbClr val="FF0000"/>
                </a:solidFill>
              </a:rPr>
              <a:t>FileReader</a:t>
            </a:r>
            <a:r>
              <a:rPr lang="en-US" sz="2000" dirty="0">
                <a:solidFill>
                  <a:srgbClr val="FF0000"/>
                </a:solidFill>
              </a:rPr>
              <a:t>(</a:t>
            </a:r>
            <a:r>
              <a:rPr lang="en-US" sz="2000" dirty="0" err="1">
                <a:solidFill>
                  <a:srgbClr val="FF0000"/>
                </a:solidFill>
              </a:rPr>
              <a:t>fileName</a:t>
            </a:r>
            <a:r>
              <a:rPr lang="en-US" sz="2000" dirty="0">
                <a:solidFill>
                  <a:srgbClr val="FF0000"/>
                </a:solidFill>
              </a:rPr>
              <a:t>);</a:t>
            </a:r>
          </a:p>
          <a:p>
            <a:r>
              <a:rPr lang="en-US" sz="2000" dirty="0">
                <a:solidFill>
                  <a:srgbClr val="FF0000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06771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3DD32-F586-406A-9B41-FC9EC5C16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535900"/>
            <a:ext cx="8229600" cy="11430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br>
              <a:rPr lang="en-US" b="1" dirty="0"/>
            </a:br>
            <a:r>
              <a:rPr lang="en-US" b="1" dirty="0"/>
              <a:t>throws Example</a:t>
            </a:r>
            <a:br>
              <a:rPr lang="en-US" b="1" dirty="0"/>
            </a:br>
            <a:endParaRPr lang="en-US" dirty="0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41AC38BC-4C16-4D77-8499-0EF3786B84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DA7E2C-5777-4515-9F17-7767B43DF6F0}" type="slidenum">
              <a:rPr lang="en-US" altLang="en-US" smtClean="0"/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36F0AB-9C9A-7AB1-BA78-9BFAE98984E2}"/>
              </a:ext>
            </a:extLst>
          </p:cNvPr>
          <p:cNvSpPr txBox="1"/>
          <p:nvPr/>
        </p:nvSpPr>
        <p:spPr>
          <a:xfrm>
            <a:off x="446809" y="1737598"/>
            <a:ext cx="73914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TestThrows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{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int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divideNum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int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m,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int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n)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throws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ArithmeticException {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int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div = m / n;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return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div;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}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US" b="0" i="0" dirty="0">
                <a:solidFill>
                  <a:srgbClr val="008200"/>
                </a:solidFill>
                <a:effectLst/>
                <a:latin typeface="inter-regular"/>
              </a:rPr>
              <a:t>//main method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main(String[] args) {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TestThrows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obj =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TestThrows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();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try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{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        System.out.println(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obj.divideNum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US" b="0" i="0" dirty="0">
                <a:solidFill>
                  <a:srgbClr val="C00000"/>
                </a:solidFill>
                <a:effectLst/>
                <a:latin typeface="inter-regular"/>
              </a:rPr>
              <a:t>45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US" b="0" i="0" dirty="0">
                <a:solidFill>
                  <a:srgbClr val="C00000"/>
                </a:solidFill>
                <a:effectLst/>
                <a:latin typeface="inter-regular"/>
              </a:rPr>
              <a:t>0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));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    }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catch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(ArithmeticException e){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        System.out.println(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"\n Number cannot be divided by 0"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    }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    System.out.println(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"Rest of the code.."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}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D037FF-9356-06EB-9020-537D1CD23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106" y="5334000"/>
            <a:ext cx="9144000" cy="1328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288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01C0F-D6D0-4C61-B082-3C4BA6992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83456"/>
            <a:ext cx="8134350" cy="1325563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b="1" dirty="0"/>
              <a:t>Java Custom (User Defined) Exception</a:t>
            </a:r>
            <a:endParaRPr lang="en-US" dirty="0"/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616EC7AF-9D53-45FE-BE53-EA3A7E39C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590800"/>
            <a:ext cx="7886700" cy="4351338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sz="2800" dirty="0">
                <a:solidFill>
                  <a:srgbClr val="002060"/>
                </a:solidFill>
              </a:rPr>
              <a:t>In Java, we can create our own exceptions that are derived classes of the Exception class. </a:t>
            </a:r>
          </a:p>
          <a:p>
            <a:pPr algn="just" eaLnBrk="1" hangingPunct="1"/>
            <a:r>
              <a:rPr lang="en-US" altLang="en-US" sz="2800" dirty="0">
                <a:solidFill>
                  <a:srgbClr val="002060"/>
                </a:solidFill>
              </a:rPr>
              <a:t>Creating our own Exception is known as custom exception or user-defined exception.</a:t>
            </a:r>
          </a:p>
          <a:p>
            <a:pPr algn="just" eaLnBrk="1" hangingPunct="1"/>
            <a:r>
              <a:rPr lang="en-US" altLang="en-US" sz="2800" dirty="0">
                <a:solidFill>
                  <a:srgbClr val="002060"/>
                </a:solidFill>
              </a:rPr>
              <a:t>Using the custom exception, we can have our own exception and message.</a:t>
            </a:r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C4D99B5F-E48C-4559-9402-90B4B031C3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DA7E2C-5777-4515-9F17-7767B43DF6F0}" type="slidenum">
              <a:rPr lang="en-US" altLang="en-US" smtClean="0"/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71771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01C0F-D6D0-4C61-B082-3C4BA6992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3400" y="1062543"/>
            <a:ext cx="4800600" cy="1143000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b="1" dirty="0"/>
              <a:t>User Defined Exception Syntax</a:t>
            </a:r>
            <a:endParaRPr lang="en-US" dirty="0"/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616EC7AF-9D53-45FE-BE53-EA3A7E39C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55965"/>
            <a:ext cx="4724400" cy="4906963"/>
          </a:xfrm>
        </p:spPr>
        <p:txBody>
          <a:bodyPr>
            <a:noAutofit/>
          </a:bodyPr>
          <a:lstStyle/>
          <a:p>
            <a:pPr algn="just">
              <a:buFont typeface="+mj-lt"/>
              <a:buAutoNum type="arabicPeriod"/>
            </a:pPr>
            <a:r>
              <a:rPr lang="en-US" sz="1400" b="0" i="0" dirty="0">
                <a:solidFill>
                  <a:srgbClr val="008200"/>
                </a:solidFill>
                <a:effectLst/>
                <a:latin typeface="inter-regular"/>
              </a:rPr>
              <a:t>// class representing custom exception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>
              <a:buFont typeface="+mj-lt"/>
              <a:buAutoNum type="arabicPeriod"/>
            </a:pPr>
            <a:r>
              <a:rPr lang="en-US" sz="1400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sz="1400" b="0" i="0" dirty="0" err="1">
                <a:solidFill>
                  <a:srgbClr val="000000"/>
                </a:solidFill>
                <a:effectLst/>
                <a:latin typeface="inter-regular"/>
              </a:rPr>
              <a:t>MyCustomException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sz="1400" b="1" i="0" dirty="0">
                <a:solidFill>
                  <a:srgbClr val="006699"/>
                </a:solidFill>
                <a:effectLst/>
                <a:latin typeface="inter-regular"/>
              </a:rPr>
              <a:t>extends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inter-regular"/>
              </a:rPr>
              <a:t> Exception  </a:t>
            </a:r>
          </a:p>
          <a:p>
            <a:pPr algn="just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>
              <a:buFont typeface="+mj-lt"/>
              <a:buAutoNum type="arabicPeriod"/>
            </a:pPr>
            <a:r>
              <a:rPr lang="en-US" sz="1400" dirty="0">
                <a:solidFill>
                  <a:srgbClr val="008200"/>
                </a:solidFill>
                <a:latin typeface="inter-regular"/>
              </a:rPr>
              <a:t>    //code for constructor</a:t>
            </a:r>
          </a:p>
          <a:p>
            <a:pPr algn="just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>
              <a:buFont typeface="+mj-lt"/>
              <a:buAutoNum type="arabicPeriod"/>
            </a:pPr>
            <a:r>
              <a:rPr lang="en-US" sz="1400" b="0" i="0" dirty="0">
                <a:solidFill>
                  <a:srgbClr val="008200"/>
                </a:solidFill>
                <a:effectLst/>
                <a:latin typeface="inter-regular"/>
              </a:rPr>
              <a:t>// class that uses custom exception </a:t>
            </a:r>
            <a:r>
              <a:rPr lang="en-US" sz="1400" b="0" i="0" dirty="0" err="1">
                <a:solidFill>
                  <a:srgbClr val="008200"/>
                </a:solidFill>
                <a:effectLst/>
                <a:latin typeface="inter-regular"/>
              </a:rPr>
              <a:t>MyCustomException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>
              <a:buFont typeface="+mj-lt"/>
              <a:buAutoNum type="arabicPeriod"/>
            </a:pPr>
            <a:r>
              <a:rPr lang="en-US" sz="1400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sz="1400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inter-regular"/>
              </a:rPr>
              <a:t> TestCustomException2  </a:t>
            </a:r>
          </a:p>
          <a:p>
            <a:pPr algn="just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inter-regular"/>
              </a:rPr>
              <a:t>    </a:t>
            </a:r>
            <a:r>
              <a:rPr lang="en-US" sz="1400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sz="1400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sz="1400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inter-regular"/>
              </a:rPr>
              <a:t> main(String args[])  </a:t>
            </a:r>
          </a:p>
          <a:p>
            <a:pPr algn="just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inter-regular"/>
              </a:rPr>
              <a:t>    {  </a:t>
            </a:r>
          </a:p>
          <a:p>
            <a:pPr algn="just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US" sz="1400" b="1" i="0" dirty="0">
                <a:solidFill>
                  <a:srgbClr val="006699"/>
                </a:solidFill>
                <a:effectLst/>
                <a:latin typeface="inter-regular"/>
              </a:rPr>
              <a:t>try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inter-regular"/>
              </a:rPr>
              <a:t>        {  </a:t>
            </a:r>
          </a:p>
          <a:p>
            <a:pPr algn="just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inter-regular"/>
              </a:rPr>
              <a:t>              </a:t>
            </a:r>
            <a:r>
              <a:rPr lang="en-US" sz="1400" b="1" i="0" dirty="0">
                <a:solidFill>
                  <a:srgbClr val="006699"/>
                </a:solidFill>
                <a:effectLst/>
                <a:latin typeface="inter-regular"/>
              </a:rPr>
              <a:t>throw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sz="1400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sz="1400" b="0" i="0" dirty="0" err="1">
                <a:solidFill>
                  <a:srgbClr val="000000"/>
                </a:solidFill>
                <a:effectLst/>
                <a:latin typeface="inter-regular"/>
              </a:rPr>
              <a:t>MyCustomException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inter-regular"/>
              </a:rPr>
              <a:t>();  </a:t>
            </a:r>
          </a:p>
          <a:p>
            <a:pPr algn="just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inter-regular"/>
              </a:rPr>
              <a:t>        }  </a:t>
            </a:r>
          </a:p>
          <a:p>
            <a:pPr algn="just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US" sz="1400" b="1" i="0" dirty="0">
                <a:solidFill>
                  <a:srgbClr val="006699"/>
                </a:solidFill>
                <a:effectLst/>
                <a:latin typeface="inter-regular"/>
              </a:rPr>
              <a:t>catch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inter-regular"/>
              </a:rPr>
              <a:t> (</a:t>
            </a:r>
            <a:r>
              <a:rPr lang="en-US" sz="1400" b="0" i="0" dirty="0" err="1">
                <a:solidFill>
                  <a:srgbClr val="000000"/>
                </a:solidFill>
                <a:effectLst/>
                <a:latin typeface="inter-regular"/>
              </a:rPr>
              <a:t>MyCustomException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inter-regular"/>
              </a:rPr>
              <a:t> ex)  </a:t>
            </a:r>
          </a:p>
          <a:p>
            <a:pPr algn="just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inter-regular"/>
              </a:rPr>
              <a:t>        {  </a:t>
            </a:r>
          </a:p>
          <a:p>
            <a:pPr algn="just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inter-regular"/>
              </a:rPr>
              <a:t>            System.out.println(</a:t>
            </a:r>
            <a:r>
              <a:rPr lang="en-US" sz="1400" b="0" i="0" dirty="0">
                <a:solidFill>
                  <a:srgbClr val="0000FF"/>
                </a:solidFill>
                <a:effectLst/>
                <a:latin typeface="inter-regular"/>
              </a:rPr>
              <a:t>"Caught the exception"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inter-regular"/>
              </a:rPr>
              <a:t>            System.out.println(</a:t>
            </a:r>
            <a:r>
              <a:rPr lang="en-US" sz="1400" b="0" i="0" dirty="0" err="1">
                <a:solidFill>
                  <a:srgbClr val="000000"/>
                </a:solidFill>
                <a:effectLst/>
                <a:latin typeface="inter-regular"/>
              </a:rPr>
              <a:t>ex.getMessage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inter-regular"/>
              </a:rPr>
              <a:t>());  </a:t>
            </a:r>
          </a:p>
          <a:p>
            <a:pPr algn="just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inter-regular"/>
              </a:rPr>
              <a:t>        }  </a:t>
            </a:r>
          </a:p>
          <a:p>
            <a:pPr algn="just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inter-regular"/>
              </a:rPr>
              <a:t>   System.out.println(</a:t>
            </a:r>
            <a:r>
              <a:rPr lang="en-US" sz="1400" b="0" i="0" dirty="0">
                <a:solidFill>
                  <a:srgbClr val="0000FF"/>
                </a:solidFill>
                <a:effectLst/>
                <a:latin typeface="inter-regular"/>
              </a:rPr>
              <a:t>"rest of the code..."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inter-regular"/>
              </a:rPr>
              <a:t>    }  </a:t>
            </a:r>
          </a:p>
          <a:p>
            <a:pPr algn="just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>
              <a:buFont typeface="+mj-lt"/>
              <a:buAutoNum type="arabicPeriod"/>
            </a:pPr>
            <a:endParaRPr lang="en-US" sz="1400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C4D99B5F-E48C-4559-9402-90B4B031C3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DA7E2C-5777-4515-9F17-7767B43DF6F0}" type="slidenum">
              <a:rPr lang="en-US" altLang="en-US" smtClean="0"/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85038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2B757-78F7-3FA2-23D8-7B7BEE6AC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D6496-C6D4-3B51-CFCC-0F6E1ADBF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19200"/>
            <a:ext cx="7886700" cy="1325563"/>
          </a:xfrm>
        </p:spPr>
        <p:txBody>
          <a:bodyPr>
            <a:normAutofit/>
          </a:bodyPr>
          <a:lstStyle/>
          <a:p>
            <a:r>
              <a:rPr lang="en-US" sz="3600" b="1" u="sng" dirty="0"/>
              <a:t>User Defined Exception Examples using throw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B9D7392-146B-1A87-422E-C15FF6716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1"/>
            <a:ext cx="8229600" cy="3200400"/>
          </a:xfrm>
        </p:spPr>
        <p:txBody>
          <a:bodyPr>
            <a:normAutofit/>
          </a:bodyPr>
          <a:lstStyle/>
          <a:p>
            <a:pPr>
              <a:buNone/>
            </a:pPr>
            <a:endParaRPr lang="en-IN" sz="2400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IN" sz="2400" b="1" dirty="0">
                <a:solidFill>
                  <a:srgbClr val="FF0000"/>
                </a:solidFill>
              </a:rPr>
              <a:t>Example 1, </a:t>
            </a:r>
            <a:r>
              <a:rPr lang="en-IN" sz="2400" b="1" dirty="0">
                <a:solidFill>
                  <a:srgbClr val="FF0000"/>
                </a:solidFill>
                <a:hlinkClick r:id="rId2"/>
              </a:rPr>
              <a:t>Click here…</a:t>
            </a:r>
            <a:endParaRPr lang="en-IN" sz="2400" b="1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b="1" dirty="0">
                <a:solidFill>
                  <a:srgbClr val="FF0000"/>
                </a:solidFill>
              </a:rPr>
              <a:t>Example 2, </a:t>
            </a:r>
            <a:r>
              <a:rPr lang="en-IN" sz="2400" b="1" dirty="0">
                <a:solidFill>
                  <a:srgbClr val="FF0000"/>
                </a:solidFill>
                <a:hlinkClick r:id="rId3"/>
              </a:rPr>
              <a:t>Click here…</a:t>
            </a:r>
            <a:endParaRPr lang="en-IN" sz="2400" b="1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802598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524000"/>
            <a:ext cx="7886700" cy="1325563"/>
          </a:xfrm>
        </p:spPr>
        <p:txBody>
          <a:bodyPr>
            <a:normAutofit/>
          </a:bodyPr>
          <a:lstStyle/>
          <a:p>
            <a:r>
              <a:rPr lang="en-US" sz="3600" b="1" u="sng" dirty="0"/>
              <a:t>User Defined Exception Example using throws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3124200"/>
            <a:ext cx="7772400" cy="1905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>
                <a:hlinkClick r:id="rId2"/>
              </a:rPr>
              <a:t>Click here…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C7E9C-1716-27B0-67F7-481EE8C70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BA24C4-6EA8-45DA-AFDD-727CD351DD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u="sng" dirty="0">
                <a:latin typeface="Algerian" pitchFamily="82" charset="0"/>
              </a:rPr>
              <a:t>Threads in Java</a:t>
            </a:r>
          </a:p>
        </p:txBody>
      </p:sp>
    </p:spTree>
    <p:extLst>
      <p:ext uri="{BB962C8B-B14F-4D97-AF65-F5344CB8AC3E}">
        <p14:creationId xmlns:p14="http://schemas.microsoft.com/office/powerpoint/2010/main" val="8747983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1FD484BC-4D92-4250-B03F-E580E6CDF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46799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br>
              <a:rPr lang="en-US" altLang="en-US" sz="2800" dirty="0"/>
            </a:br>
            <a:r>
              <a:rPr lang="en-US" altLang="en-US" sz="2800" dirty="0"/>
              <a:t>The life cycle of the thread in java is controlled by JVM. The java thread states are as follows:</a:t>
            </a:r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CABBA446-61BB-43A2-A405-EF3B93CAC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Basically, there are five state:</a:t>
            </a:r>
          </a:p>
          <a:p>
            <a:pPr lvl="1"/>
            <a:r>
              <a:rPr lang="en-US" altLang="en-US" dirty="0"/>
              <a:t>New-Born</a:t>
            </a:r>
          </a:p>
          <a:p>
            <a:pPr lvl="1"/>
            <a:r>
              <a:rPr lang="en-US" altLang="en-US" dirty="0"/>
              <a:t>Running</a:t>
            </a:r>
          </a:p>
          <a:p>
            <a:pPr lvl="1"/>
            <a:r>
              <a:rPr lang="en-US" altLang="en-US" dirty="0"/>
              <a:t>Runnable</a:t>
            </a:r>
          </a:p>
          <a:p>
            <a:pPr lvl="1"/>
            <a:r>
              <a:rPr lang="en-US" altLang="en-US" dirty="0"/>
              <a:t>Blocked</a:t>
            </a:r>
          </a:p>
          <a:p>
            <a:pPr lvl="1"/>
            <a:r>
              <a:rPr lang="en-US" altLang="en-US" dirty="0"/>
              <a:t>Terminated/Dead</a:t>
            </a:r>
          </a:p>
          <a:p>
            <a:pPr lvl="1">
              <a:buFont typeface="Arial" panose="020B0604020202020204" pitchFamily="34" charset="0"/>
              <a:buNone/>
            </a:pPr>
            <a:endParaRPr lang="en-US" altLang="en-US" dirty="0"/>
          </a:p>
        </p:txBody>
      </p:sp>
      <p:sp>
        <p:nvSpPr>
          <p:cNvPr id="35844" name="Slide Number Placeholder 3">
            <a:extLst>
              <a:ext uri="{FF2B5EF4-FFF2-40B4-BE49-F238E27FC236}">
                <a16:creationId xmlns:a16="http://schemas.microsoft.com/office/drawing/2014/main" id="{7CEC195D-1B3B-402C-ABA3-22BEFED59B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9633C80-3D13-491D-B6C6-BD2B435B1423}" type="slidenum">
              <a:rPr lang="en-US" altLang="en-US" smtClean="0"/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C26DE8-A9DD-622A-2DC1-F8E36CF94215}"/>
              </a:ext>
            </a:extLst>
          </p:cNvPr>
          <p:cNvSpPr txBox="1"/>
          <p:nvPr/>
        </p:nvSpPr>
        <p:spPr>
          <a:xfrm>
            <a:off x="457200" y="1101437"/>
            <a:ext cx="45813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200" b="1" dirty="0"/>
              <a:t>Life Cycle of a thread 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5773614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3">
            <a:extLst>
              <a:ext uri="{FF2B5EF4-FFF2-40B4-BE49-F238E27FC236}">
                <a16:creationId xmlns:a16="http://schemas.microsoft.com/office/drawing/2014/main" id="{F4B90B8B-9803-422A-BE09-0C55475EC7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fld id="{B9633C80-3D13-491D-B6C6-BD2B435B1423}" type="slidenum">
              <a:rPr lang="en-US" altLang="en-US" smtClean="0"/>
              <a:pPr algn="l">
                <a:spcBef>
                  <a:spcPct val="0"/>
                </a:spcBef>
                <a:buFontTx/>
                <a:buNone/>
              </a:pPr>
              <a:t>29</a:t>
            </a:fld>
            <a:endParaRPr lang="en-GB" altLang="zh-CN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952203-E58A-62F2-9AC7-444CA280F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24997"/>
            <a:ext cx="7772400" cy="5105400"/>
          </a:xfrm>
          <a:prstGeom prst="rect">
            <a:avLst/>
          </a:prstGeom>
        </p:spPr>
      </p:pic>
    </p:spTree>
  </p:cSld>
  <p:clrMapOvr>
    <a:masterClrMapping/>
  </p:clrMapOvr>
  <p:transition advTm="1000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Slide Number Placeholder 3">
            <a:extLst>
              <a:ext uri="{FF2B5EF4-FFF2-40B4-BE49-F238E27FC236}">
                <a16:creationId xmlns:a16="http://schemas.microsoft.com/office/drawing/2014/main" id="{7CEC195D-1B3B-402C-ABA3-22BEFED59B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9633C80-3D13-491D-B6C6-BD2B435B1423}" type="slidenum">
              <a:rPr lang="en-US" altLang="en-US" smtClean="0"/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C26DE8-A9DD-622A-2DC1-F8E36CF94215}"/>
              </a:ext>
            </a:extLst>
          </p:cNvPr>
          <p:cNvSpPr txBox="1"/>
          <p:nvPr/>
        </p:nvSpPr>
        <p:spPr>
          <a:xfrm>
            <a:off x="422564" y="1143000"/>
            <a:ext cx="45813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200" b="1" dirty="0"/>
              <a:t>Life Cycle of a thread </a:t>
            </a:r>
            <a:endParaRPr lang="en-IN" sz="32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68D6246-172E-BB5A-D1B3-BC64931FE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84582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2013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08D9F3D7-F053-481A-B506-B041BD898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55" y="1073150"/>
            <a:ext cx="8439150" cy="1325563"/>
          </a:xfrm>
        </p:spPr>
        <p:txBody>
          <a:bodyPr/>
          <a:lstStyle/>
          <a:p>
            <a:pPr algn="l"/>
            <a:r>
              <a:rPr lang="en-US" altLang="en-US" sz="4000" b="1" dirty="0">
                <a:solidFill>
                  <a:schemeClr val="tx1"/>
                </a:solidFill>
              </a:rPr>
              <a:t>Creating and Implementing thread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D3792-1848-4D0E-9986-3FED7C8F7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83619"/>
            <a:ext cx="7886700" cy="4351338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ts val="700"/>
              </a:spcBef>
              <a:buClr>
                <a:srgbClr val="FFCF01"/>
              </a:buClr>
              <a:buSzPct val="60000"/>
              <a:buNone/>
              <a:tabLst>
                <a:tab pos="854075" algn="l"/>
                <a:tab pos="1768475" algn="l"/>
                <a:tab pos="2682875" algn="l"/>
                <a:tab pos="3597275" algn="l"/>
                <a:tab pos="4511675" algn="l"/>
                <a:tab pos="5426075" algn="l"/>
                <a:tab pos="6340475" algn="l"/>
                <a:tab pos="7254875" algn="l"/>
                <a:tab pos="8169275" algn="l"/>
                <a:tab pos="9083675" algn="l"/>
                <a:tab pos="9998075" algn="l"/>
              </a:tabLst>
              <a:defRPr/>
            </a:pPr>
            <a:r>
              <a:rPr lang="en-US" dirty="0">
                <a:solidFill>
                  <a:schemeClr val="tx1"/>
                </a:solidFill>
              </a:rPr>
              <a:t>Two Ways to implement multithreading in Java</a:t>
            </a:r>
          </a:p>
          <a:p>
            <a:pPr marL="0" indent="0">
              <a:lnSpc>
                <a:spcPct val="90000"/>
              </a:lnSpc>
              <a:spcBef>
                <a:spcPts val="700"/>
              </a:spcBef>
              <a:buClr>
                <a:srgbClr val="FFCF01"/>
              </a:buClr>
              <a:buSzPct val="60000"/>
              <a:buNone/>
              <a:tabLst>
                <a:tab pos="854075" algn="l"/>
                <a:tab pos="1768475" algn="l"/>
                <a:tab pos="2682875" algn="l"/>
                <a:tab pos="3597275" algn="l"/>
                <a:tab pos="4511675" algn="l"/>
                <a:tab pos="5426075" algn="l"/>
                <a:tab pos="6340475" algn="l"/>
                <a:tab pos="7254875" algn="l"/>
                <a:tab pos="8169275" algn="l"/>
                <a:tab pos="9083675" algn="l"/>
                <a:tab pos="9998075" algn="l"/>
              </a:tabLst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684213" lvl="1" indent="-284163">
              <a:lnSpc>
                <a:spcPct val="90000"/>
              </a:lnSpc>
              <a:spcBef>
                <a:spcPts val="700"/>
              </a:spcBef>
              <a:buClr>
                <a:srgbClr val="FFCF01"/>
              </a:buClr>
              <a:buSzPct val="60000"/>
              <a:buFont typeface="Wingdings" pitchFamily="2" charset="2"/>
              <a:buChar char=""/>
              <a:tabLst>
                <a:tab pos="854075" algn="l"/>
                <a:tab pos="1768475" algn="l"/>
                <a:tab pos="2682875" algn="l"/>
                <a:tab pos="3597275" algn="l"/>
                <a:tab pos="4511675" algn="l"/>
                <a:tab pos="5426075" algn="l"/>
                <a:tab pos="6340475" algn="l"/>
                <a:tab pos="7254875" algn="l"/>
                <a:tab pos="8169275" algn="l"/>
                <a:tab pos="9083675" algn="l"/>
                <a:tab pos="9998075" algn="l"/>
              </a:tabLst>
              <a:defRPr/>
            </a:pPr>
            <a:r>
              <a:rPr lang="en-US" dirty="0">
                <a:solidFill>
                  <a:srgbClr val="0070C0"/>
                </a:solidFill>
              </a:rPr>
              <a:t>Create a class that extends the Thread class</a:t>
            </a:r>
          </a:p>
          <a:p>
            <a:pPr marL="400050" lvl="1" indent="0">
              <a:lnSpc>
                <a:spcPct val="90000"/>
              </a:lnSpc>
              <a:spcBef>
                <a:spcPts val="700"/>
              </a:spcBef>
              <a:buClr>
                <a:srgbClr val="FFCF01"/>
              </a:buClr>
              <a:buSzPct val="60000"/>
              <a:buNone/>
              <a:tabLst>
                <a:tab pos="854075" algn="l"/>
                <a:tab pos="1768475" algn="l"/>
                <a:tab pos="2682875" algn="l"/>
                <a:tab pos="3597275" algn="l"/>
                <a:tab pos="4511675" algn="l"/>
                <a:tab pos="5426075" algn="l"/>
                <a:tab pos="6340475" algn="l"/>
                <a:tab pos="7254875" algn="l"/>
                <a:tab pos="8169275" algn="l"/>
                <a:tab pos="9083675" algn="l"/>
                <a:tab pos="9998075" algn="l"/>
              </a:tabLst>
              <a:defRPr/>
            </a:pPr>
            <a:endParaRPr lang="en-US" dirty="0">
              <a:solidFill>
                <a:srgbClr val="0070C0"/>
              </a:solidFill>
            </a:endParaRPr>
          </a:p>
          <a:p>
            <a:pPr marL="684213" lvl="1" indent="-284163">
              <a:lnSpc>
                <a:spcPct val="90000"/>
              </a:lnSpc>
              <a:spcBef>
                <a:spcPts val="700"/>
              </a:spcBef>
              <a:buClr>
                <a:srgbClr val="FFCF01"/>
              </a:buClr>
              <a:buSzPct val="60000"/>
              <a:buFont typeface="Wingdings" pitchFamily="2" charset="2"/>
              <a:buChar char=""/>
              <a:tabLst>
                <a:tab pos="854075" algn="l"/>
                <a:tab pos="1768475" algn="l"/>
                <a:tab pos="2682875" algn="l"/>
                <a:tab pos="3597275" algn="l"/>
                <a:tab pos="4511675" algn="l"/>
                <a:tab pos="5426075" algn="l"/>
                <a:tab pos="6340475" algn="l"/>
                <a:tab pos="7254875" algn="l"/>
                <a:tab pos="8169275" algn="l"/>
                <a:tab pos="9083675" algn="l"/>
                <a:tab pos="9998075" algn="l"/>
              </a:tabLst>
              <a:defRPr/>
            </a:pPr>
            <a:r>
              <a:rPr lang="en-US" dirty="0">
                <a:solidFill>
                  <a:srgbClr val="0070C0"/>
                </a:solidFill>
              </a:rPr>
              <a:t>Create a class that implements the Runnable interface</a:t>
            </a:r>
          </a:p>
          <a:p>
            <a:pPr>
              <a:buFont typeface="Arial" panose="020B0604020202020204" pitchFamily="34" charset="0"/>
              <a:buNone/>
              <a:defRPr/>
            </a:pPr>
            <a:endParaRPr lang="en-US" dirty="0"/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9436A64D-5C42-4409-AAE8-219D8EE13ED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9633C80-3D13-491D-B6C6-BD2B435B1423}" type="slidenum">
              <a:rPr lang="en-US" altLang="en-US" smtClean="0"/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408AD12E-757F-474E-B50C-8E147799F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955" y="1295400"/>
            <a:ext cx="8686800" cy="503238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sz="3600" dirty="0"/>
              <a:t>1. Create a class by extending Thread class and override run() method:</a:t>
            </a:r>
            <a:br>
              <a:rPr lang="en-US" altLang="en-US" sz="3600" dirty="0"/>
            </a:br>
            <a:r>
              <a:rPr lang="en-US" altLang="en-US" sz="3600" dirty="0"/>
              <a:t> </a:t>
            </a: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E1A3C22D-E5FE-40B3-9FDE-56FA43A77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571028"/>
            <a:ext cx="8229600" cy="4297363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/>
              <a:t>	  </a:t>
            </a:r>
            <a:r>
              <a:rPr lang="en-US" altLang="en-US" sz="2800" dirty="0">
                <a:solidFill>
                  <a:srgbClr val="0070C0"/>
                </a:solidFill>
              </a:rPr>
              <a:t>class MyThread extends Thread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2800" dirty="0">
                <a:solidFill>
                  <a:srgbClr val="0070C0"/>
                </a:solidFill>
              </a:rPr>
              <a:t>	  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2800" dirty="0">
                <a:solidFill>
                  <a:srgbClr val="0070C0"/>
                </a:solidFill>
              </a:rPr>
              <a:t>    	 public void run()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2800" dirty="0">
                <a:solidFill>
                  <a:srgbClr val="0070C0"/>
                </a:solidFill>
              </a:rPr>
              <a:t>  	 	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2800" dirty="0">
                <a:solidFill>
                  <a:srgbClr val="0070C0"/>
                </a:solidFill>
              </a:rPr>
              <a:t>     	   // thread body of execution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2800" dirty="0">
                <a:solidFill>
                  <a:srgbClr val="0070C0"/>
                </a:solidFill>
              </a:rPr>
              <a:t>  	 	}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2800" dirty="0">
                <a:solidFill>
                  <a:srgbClr val="0070C0"/>
                </a:solidFill>
              </a:rPr>
              <a:t>    }</a:t>
            </a:r>
          </a:p>
        </p:txBody>
      </p:sp>
      <p:sp>
        <p:nvSpPr>
          <p:cNvPr id="31748" name="Slide Number Placeholder 3">
            <a:extLst>
              <a:ext uri="{FF2B5EF4-FFF2-40B4-BE49-F238E27FC236}">
                <a16:creationId xmlns:a16="http://schemas.microsoft.com/office/drawing/2014/main" id="{957ABC4A-958C-4278-A37B-9B7884E9EC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9633C80-3D13-491D-B6C6-BD2B435B1423}" type="slidenum">
              <a:rPr lang="en-US" altLang="en-US" smtClean="0"/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880E0DA4-57D5-4576-A6D3-A0FCC5034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b="1" dirty="0"/>
              <a:t>Create a thread: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/>
              <a:t>   MyThread thr1 = new MyThread();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b="1" dirty="0"/>
              <a:t>Start Execution of threads: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/>
              <a:t>   thr1.start();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b="1" dirty="0"/>
              <a:t>Create and Execute: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/>
              <a:t>   new MyThread().start();</a:t>
            </a:r>
          </a:p>
        </p:txBody>
      </p:sp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id="{2F8A5A60-9C35-4D40-BC27-48676CD0DA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9633C80-3D13-491D-B6C6-BD2B435B1423}" type="slidenum">
              <a:rPr lang="en-US" altLang="en-US" smtClean="0"/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4403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408AD12E-757F-474E-B50C-8E147799F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447800"/>
            <a:ext cx="8686800" cy="503238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sz="3600" dirty="0"/>
              <a:t>Example : Using Thread class</a:t>
            </a:r>
            <a:br>
              <a:rPr lang="en-US" altLang="en-US" sz="3600" dirty="0"/>
            </a:br>
            <a:br>
              <a:rPr lang="en-US" altLang="en-US" sz="3600" dirty="0"/>
            </a:br>
            <a:br>
              <a:rPr lang="en-US" altLang="en-US" sz="3600" dirty="0"/>
            </a:br>
            <a:br>
              <a:rPr lang="en-US" altLang="en-US" sz="3600" dirty="0"/>
            </a:br>
            <a:r>
              <a:rPr lang="en-US" altLang="en-US" sz="3600" dirty="0">
                <a:hlinkClick r:id="rId2"/>
              </a:rPr>
              <a:t>click here…</a:t>
            </a:r>
            <a:endParaRPr lang="en-US" altLang="en-US" sz="3600" dirty="0"/>
          </a:p>
        </p:txBody>
      </p:sp>
      <p:sp>
        <p:nvSpPr>
          <p:cNvPr id="31748" name="Slide Number Placeholder 3">
            <a:extLst>
              <a:ext uri="{FF2B5EF4-FFF2-40B4-BE49-F238E27FC236}">
                <a16:creationId xmlns:a16="http://schemas.microsoft.com/office/drawing/2014/main" id="{957ABC4A-958C-4278-A37B-9B7884E9EC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9633C80-3D13-491D-B6C6-BD2B435B1423}" type="slidenum">
              <a:rPr lang="en-US" altLang="en-US" smtClean="0"/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762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909765CF-F2F0-4309-BE42-DFE2BB529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838200"/>
            <a:ext cx="7886700" cy="1325563"/>
          </a:xfrm>
        </p:spPr>
        <p:txBody>
          <a:bodyPr>
            <a:normAutofit fontScale="90000"/>
          </a:bodyPr>
          <a:lstStyle/>
          <a:p>
            <a:pPr algn="l"/>
            <a:br>
              <a:rPr lang="en-US" altLang="en-US" sz="3200" dirty="0"/>
            </a:br>
            <a:r>
              <a:rPr lang="en-US" altLang="en-US" sz="3200" dirty="0"/>
              <a:t>2. Create a class that implements the interface Runnable and override run() method:</a:t>
            </a:r>
          </a:p>
        </p:txBody>
      </p:sp>
      <p:sp>
        <p:nvSpPr>
          <p:cNvPr id="33795" name="Content Placeholder 2">
            <a:extLst>
              <a:ext uri="{FF2B5EF4-FFF2-40B4-BE49-F238E27FC236}">
                <a16:creationId xmlns:a16="http://schemas.microsoft.com/office/drawing/2014/main" id="{FD055745-E636-41B4-99D2-22AD7002A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465676"/>
            <a:ext cx="8229600" cy="422116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en-US" altLang="en-US" sz="2800" dirty="0">
                <a:solidFill>
                  <a:srgbClr val="0070C0"/>
                </a:solidFill>
              </a:rPr>
              <a:t>class MyThread implements Runnable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2800" dirty="0">
                <a:solidFill>
                  <a:srgbClr val="0070C0"/>
                </a:solidFill>
              </a:rPr>
              <a:t>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2800" dirty="0">
                <a:solidFill>
                  <a:srgbClr val="0070C0"/>
                </a:solidFill>
              </a:rPr>
              <a:t>  .....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2800" dirty="0">
                <a:solidFill>
                  <a:srgbClr val="0070C0"/>
                </a:solidFill>
              </a:rPr>
              <a:t>  public void run()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2800" dirty="0">
                <a:solidFill>
                  <a:srgbClr val="0070C0"/>
                </a:solidFill>
              </a:rPr>
              <a:t>  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2800" dirty="0">
                <a:solidFill>
                  <a:srgbClr val="0070C0"/>
                </a:solidFill>
              </a:rPr>
              <a:t>     // thread body of execution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2800" dirty="0">
                <a:solidFill>
                  <a:srgbClr val="0070C0"/>
                </a:solidFill>
              </a:rPr>
              <a:t>  }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2800" dirty="0">
                <a:solidFill>
                  <a:srgbClr val="0070C0"/>
                </a:solidFill>
              </a:rPr>
              <a:t>}</a:t>
            </a:r>
          </a:p>
        </p:txBody>
      </p:sp>
      <p:sp>
        <p:nvSpPr>
          <p:cNvPr id="33796" name="Slide Number Placeholder 3">
            <a:extLst>
              <a:ext uri="{FF2B5EF4-FFF2-40B4-BE49-F238E27FC236}">
                <a16:creationId xmlns:a16="http://schemas.microsoft.com/office/drawing/2014/main" id="{FAE9A3FF-097B-41B2-8C38-25C3008AEF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9633C80-3D13-491D-B6C6-BD2B435B1423}" type="slidenum">
              <a:rPr lang="en-US" altLang="en-US" smtClean="0"/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Content Placeholder 2">
            <a:extLst>
              <a:ext uri="{FF2B5EF4-FFF2-40B4-BE49-F238E27FC236}">
                <a16:creationId xmlns:a16="http://schemas.microsoft.com/office/drawing/2014/main" id="{5127E3C9-2B60-4FE9-B022-0628C194B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87355"/>
            <a:ext cx="8229600" cy="5287963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b="1" dirty="0"/>
              <a:t>Creating Object: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/>
              <a:t>    MyThread myObject = new MyThread();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b="1" dirty="0"/>
              <a:t>Creating Thread Object: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/>
              <a:t>        Thread thr1 = new Thread(myObject);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b="1" dirty="0"/>
              <a:t>Start Execution: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/>
              <a:t>    thr1.start();</a:t>
            </a:r>
          </a:p>
        </p:txBody>
      </p:sp>
      <p:sp>
        <p:nvSpPr>
          <p:cNvPr id="34819" name="Slide Number Placeholder 3">
            <a:extLst>
              <a:ext uri="{FF2B5EF4-FFF2-40B4-BE49-F238E27FC236}">
                <a16:creationId xmlns:a16="http://schemas.microsoft.com/office/drawing/2014/main" id="{BC462CA4-1731-4DAB-BF45-2A12E25BEA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9633C80-3D13-491D-B6C6-BD2B435B1423}" type="slidenum">
              <a:rPr lang="en-US" altLang="en-US" smtClean="0"/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CA98E-5B7D-4B0D-454E-D237F61EF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73601B4C-C0EF-0B49-F6C6-51453B684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447800"/>
            <a:ext cx="8686800" cy="503238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sz="3600" dirty="0"/>
              <a:t>Example : Using Runnable interface</a:t>
            </a:r>
            <a:br>
              <a:rPr lang="en-US" altLang="en-US" sz="3600" dirty="0"/>
            </a:br>
            <a:br>
              <a:rPr lang="en-US" altLang="en-US" sz="3600" dirty="0"/>
            </a:br>
            <a:br>
              <a:rPr lang="en-US" altLang="en-US" sz="3600" dirty="0"/>
            </a:br>
            <a:br>
              <a:rPr lang="en-US" altLang="en-US" sz="3600" dirty="0"/>
            </a:br>
            <a:r>
              <a:rPr lang="en-US" altLang="en-US" sz="3600" dirty="0">
                <a:hlinkClick r:id="rId2"/>
              </a:rPr>
              <a:t>click here…</a:t>
            </a:r>
            <a:endParaRPr lang="en-US" altLang="en-US" sz="3600" dirty="0"/>
          </a:p>
        </p:txBody>
      </p:sp>
      <p:sp>
        <p:nvSpPr>
          <p:cNvPr id="31748" name="Slide Number Placeholder 3">
            <a:extLst>
              <a:ext uri="{FF2B5EF4-FFF2-40B4-BE49-F238E27FC236}">
                <a16:creationId xmlns:a16="http://schemas.microsoft.com/office/drawing/2014/main" id="{9F147AEE-162F-08F0-93F6-7822A2B917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9633C80-3D13-491D-B6C6-BD2B435B1423}" type="slidenum">
              <a:rPr lang="en-US" altLang="en-US" smtClean="0"/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2191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3">
            <a:extLst>
              <a:ext uri="{FF2B5EF4-FFF2-40B4-BE49-F238E27FC236}">
                <a16:creationId xmlns:a16="http://schemas.microsoft.com/office/drawing/2014/main" id="{85ECE27C-669F-49D9-9115-E4BFFB0BC7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fld id="{B9633C80-3D13-491D-B6C6-BD2B435B1423}" type="slidenum">
              <a:rPr lang="en-US" altLang="en-US" smtClean="0"/>
              <a:pPr algn="l">
                <a:spcBef>
                  <a:spcPct val="0"/>
                </a:spcBef>
                <a:buFontTx/>
                <a:buNone/>
              </a:pPr>
              <a:t>38</a:t>
            </a:fld>
            <a:endParaRPr lang="en-GB" altLang="zh-CN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98621A06-B03E-46C1-BE26-246294E5F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19200"/>
            <a:ext cx="7886700" cy="1325563"/>
          </a:xfrm>
        </p:spPr>
        <p:txBody>
          <a:bodyPr/>
          <a:lstStyle/>
          <a:p>
            <a:pPr eaLnBrk="1" hangingPunct="1"/>
            <a:r>
              <a:rPr lang="en-GB" altLang="en-US" dirty="0"/>
              <a:t>Thread Priorities</a:t>
            </a: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C3282A72-A775-424B-BCC8-3AF974C3B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2036185"/>
            <a:ext cx="7886700" cy="4351338"/>
          </a:xfrm>
        </p:spPr>
        <p:txBody>
          <a:bodyPr/>
          <a:lstStyle/>
          <a:p>
            <a:pPr algn="just" eaLnBrk="1" hangingPunct="1"/>
            <a:r>
              <a:rPr lang="en-GB" altLang="en-US" sz="2800" dirty="0"/>
              <a:t>In Java, each thread is assigned priority, which affects the order in which it is scheduled for running. The threads so far had same default priority (NORM_PRIORITY) and they are served using FCFS policy.</a:t>
            </a:r>
          </a:p>
          <a:p>
            <a:pPr lvl="1" eaLnBrk="1" hangingPunct="1"/>
            <a:r>
              <a:rPr lang="en-GB" altLang="en-US" sz="2400" dirty="0"/>
              <a:t>Java allows users to change priority:</a:t>
            </a:r>
          </a:p>
          <a:p>
            <a:pPr lvl="2" eaLnBrk="1" hangingPunct="1"/>
            <a:r>
              <a:rPr lang="en-GB" altLang="en-US" sz="2000" dirty="0" err="1"/>
              <a:t>Threadobject.setPriority</a:t>
            </a:r>
            <a:r>
              <a:rPr lang="en-GB" altLang="en-US" sz="2000" dirty="0"/>
              <a:t>(</a:t>
            </a:r>
            <a:r>
              <a:rPr lang="en-GB" altLang="en-US" sz="2000" dirty="0" err="1"/>
              <a:t>intNumber</a:t>
            </a:r>
            <a:r>
              <a:rPr lang="en-GB" altLang="en-US" sz="2000" dirty="0"/>
              <a:t>)</a:t>
            </a:r>
          </a:p>
          <a:p>
            <a:pPr lvl="3" eaLnBrk="1" hangingPunct="1"/>
            <a:r>
              <a:rPr lang="en-GB" altLang="en-US" sz="1800" dirty="0"/>
              <a:t>MIN_PRIORITY = 1</a:t>
            </a:r>
          </a:p>
          <a:p>
            <a:pPr lvl="3" eaLnBrk="1" hangingPunct="1"/>
            <a:r>
              <a:rPr lang="en-GB" altLang="en-US" sz="1800" dirty="0"/>
              <a:t>NORM_PRIORITY=5</a:t>
            </a:r>
          </a:p>
          <a:p>
            <a:pPr lvl="3" eaLnBrk="1" hangingPunct="1"/>
            <a:r>
              <a:rPr lang="en-GB" altLang="en-US" sz="1800" dirty="0"/>
              <a:t>MAX_PRIORITY=10</a:t>
            </a:r>
          </a:p>
        </p:txBody>
      </p:sp>
    </p:spTree>
    <p:extLst>
      <p:ext uri="{BB962C8B-B14F-4D97-AF65-F5344CB8AC3E}">
        <p14:creationId xmlns:p14="http://schemas.microsoft.com/office/powerpoint/2010/main" val="140509458"/>
      </p:ext>
    </p:extLst>
  </p:cSld>
  <p:clrMapOvr>
    <a:masterClrMapping/>
  </p:clrMapOvr>
  <p:transition advTm="1000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3">
            <a:extLst>
              <a:ext uri="{FF2B5EF4-FFF2-40B4-BE49-F238E27FC236}">
                <a16:creationId xmlns:a16="http://schemas.microsoft.com/office/drawing/2014/main" id="{0B4E7EB0-E961-4CAD-82FC-D208907DAC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fld id="{B9633C80-3D13-491D-B6C6-BD2B435B1423}" type="slidenum">
              <a:rPr lang="en-US" altLang="en-US" smtClean="0"/>
              <a:pPr algn="l">
                <a:spcBef>
                  <a:spcPct val="0"/>
                </a:spcBef>
                <a:buFontTx/>
                <a:buNone/>
              </a:pPr>
              <a:t>39</a:t>
            </a:fld>
            <a:endParaRPr lang="en-GB" altLang="zh-CN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34255134-74AB-47DB-9A09-70C23C285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273" y="1295400"/>
            <a:ext cx="8229600" cy="1143000"/>
          </a:xfrm>
        </p:spPr>
        <p:txBody>
          <a:bodyPr/>
          <a:lstStyle/>
          <a:p>
            <a:pPr eaLnBrk="1" hangingPunct="1"/>
            <a:r>
              <a:rPr lang="en-GB" altLang="en-US" dirty="0"/>
              <a:t>Thread Priority Example</a:t>
            </a:r>
            <a:br>
              <a:rPr lang="en-GB" altLang="en-US" dirty="0"/>
            </a:br>
            <a:br>
              <a:rPr lang="en-GB" altLang="en-US" dirty="0"/>
            </a:br>
            <a:br>
              <a:rPr lang="en-GB" altLang="en-US" dirty="0"/>
            </a:br>
            <a:r>
              <a:rPr lang="en-GB" altLang="en-US" dirty="0">
                <a:hlinkClick r:id="rId3"/>
              </a:rPr>
              <a:t>click here…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301396208"/>
      </p:ext>
    </p:extLst>
  </p:cSld>
  <p:clrMapOvr>
    <a:masterClrMapping/>
  </p:clrMapOvr>
  <p:transition advTm="1000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E9DA3F93-F957-4C7E-8808-532146C6F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18164"/>
            <a:ext cx="8229600" cy="1143000"/>
          </a:xfrm>
        </p:spPr>
        <p:txBody>
          <a:bodyPr/>
          <a:lstStyle/>
          <a:p>
            <a:r>
              <a:rPr lang="en-US" altLang="en-US" dirty="0"/>
              <a:t>Methods in Thread Class</a:t>
            </a:r>
          </a:p>
        </p:txBody>
      </p:sp>
      <p:sp>
        <p:nvSpPr>
          <p:cNvPr id="50180" name="Slide Number Placeholder 3">
            <a:extLst>
              <a:ext uri="{FF2B5EF4-FFF2-40B4-BE49-F238E27FC236}">
                <a16:creationId xmlns:a16="http://schemas.microsoft.com/office/drawing/2014/main" id="{FC8A0E59-BC3E-435B-BB31-FAD6E790C6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9633C80-3D13-491D-B6C6-BD2B435B1423}" type="slidenum">
              <a:rPr lang="en-US" altLang="en-US" smtClean="0"/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90F42A-0B9C-52FD-C6D2-926BA2A29E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9600" y="1685961"/>
            <a:ext cx="7160908" cy="19418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5E99326-0275-B98A-9FB1-AFAE225708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9600" y="3657600"/>
            <a:ext cx="4267200" cy="1122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CD7A551-3F77-8C80-998E-77656309D6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9600" y="4800600"/>
            <a:ext cx="5791200" cy="1791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8212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2835DBCB-FF1D-468A-9D0D-A24A34223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83456"/>
            <a:ext cx="7886700" cy="1325563"/>
          </a:xfrm>
        </p:spPr>
        <p:txBody>
          <a:bodyPr/>
          <a:lstStyle/>
          <a:p>
            <a:r>
              <a:rPr lang="en-US" altLang="en-US" dirty="0"/>
              <a:t>Thread synchronization</a:t>
            </a:r>
          </a:p>
        </p:txBody>
      </p:sp>
      <p:sp>
        <p:nvSpPr>
          <p:cNvPr id="49155" name="Content Placeholder 2">
            <a:extLst>
              <a:ext uri="{FF2B5EF4-FFF2-40B4-BE49-F238E27FC236}">
                <a16:creationId xmlns:a16="http://schemas.microsoft.com/office/drawing/2014/main" id="{D291D393-9BDE-45CE-B8DE-B55439B6A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058150" cy="4351338"/>
          </a:xfrm>
        </p:spPr>
        <p:txBody>
          <a:bodyPr/>
          <a:lstStyle/>
          <a:p>
            <a:pPr algn="just"/>
            <a:r>
              <a:rPr lang="en-IN" sz="3000" dirty="0"/>
              <a:t>When multiple threads access </a:t>
            </a:r>
            <a:r>
              <a:rPr lang="en-IN" sz="3000" b="1" dirty="0"/>
              <a:t>shared resources</a:t>
            </a:r>
            <a:r>
              <a:rPr lang="en-IN" sz="3000" dirty="0"/>
              <a:t>, there is a risk of </a:t>
            </a:r>
            <a:r>
              <a:rPr lang="en-IN" sz="3000" b="1" dirty="0"/>
              <a:t>data inconsistency</a:t>
            </a:r>
            <a:r>
              <a:rPr lang="en-IN" sz="3000" dirty="0"/>
              <a:t>. Synchronization ensures </a:t>
            </a:r>
            <a:r>
              <a:rPr lang="en-IN" sz="3000" b="1" dirty="0"/>
              <a:t>only one thread accesses a critical section at a time.</a:t>
            </a:r>
          </a:p>
          <a:p>
            <a:pPr algn="just"/>
            <a:r>
              <a:rPr lang="en-IN" dirty="0">
                <a:solidFill>
                  <a:srgbClr val="FF0000"/>
                </a:solidFill>
              </a:rPr>
              <a:t>Need for Synchronization:</a:t>
            </a:r>
          </a:p>
          <a:p>
            <a:pPr lvl="1" algn="just"/>
            <a:r>
              <a:rPr lang="en-US" altLang="en-US" sz="2000" dirty="0">
                <a:latin typeface="Arial" panose="020B0604020202020204" pitchFamily="34" charset="0"/>
              </a:rPr>
              <a:t>Prevents </a:t>
            </a:r>
            <a:r>
              <a:rPr lang="en-US" altLang="en-US" sz="2000" b="1" dirty="0">
                <a:latin typeface="Arial" panose="020B0604020202020204" pitchFamily="34" charset="0"/>
              </a:rPr>
              <a:t>data inconsistency</a:t>
            </a:r>
            <a:r>
              <a:rPr lang="en-US" altLang="en-US" sz="2000" dirty="0">
                <a:latin typeface="Arial" panose="020B0604020202020204" pitchFamily="34" charset="0"/>
              </a:rPr>
              <a:t>.</a:t>
            </a:r>
          </a:p>
          <a:p>
            <a:pPr lvl="1" algn="just"/>
            <a:r>
              <a:rPr lang="en-US" altLang="en-US" sz="2000" dirty="0">
                <a:latin typeface="Arial" panose="020B0604020202020204" pitchFamily="34" charset="0"/>
              </a:rPr>
              <a:t>Ensures </a:t>
            </a:r>
            <a:r>
              <a:rPr lang="en-US" altLang="en-US" sz="2000" b="1" dirty="0">
                <a:latin typeface="Arial" panose="020B0604020202020204" pitchFamily="34" charset="0"/>
              </a:rPr>
              <a:t>only one thread</a:t>
            </a:r>
            <a:r>
              <a:rPr lang="en-US" altLang="en-US" sz="2000" dirty="0">
                <a:latin typeface="Arial" panose="020B0604020202020204" pitchFamily="34" charset="0"/>
              </a:rPr>
              <a:t> accesses a critical section at a time.</a:t>
            </a:r>
          </a:p>
          <a:p>
            <a:pPr lvl="1" algn="just"/>
            <a:r>
              <a:rPr lang="en-US" altLang="en-US" sz="2000" dirty="0">
                <a:latin typeface="Arial" panose="020B0604020202020204" pitchFamily="34" charset="0"/>
              </a:rPr>
              <a:t>Maintains </a:t>
            </a:r>
            <a:r>
              <a:rPr lang="en-US" altLang="en-US" sz="2000" b="1" dirty="0">
                <a:latin typeface="Arial" panose="020B0604020202020204" pitchFamily="34" charset="0"/>
              </a:rPr>
              <a:t>thread safety</a:t>
            </a:r>
            <a:r>
              <a:rPr lang="en-US" altLang="en-US" sz="2000" dirty="0">
                <a:latin typeface="Arial" panose="020B0604020202020204" pitchFamily="34" charset="0"/>
              </a:rPr>
              <a:t>.</a:t>
            </a:r>
          </a:p>
          <a:p>
            <a:pPr lvl="1" algn="just"/>
            <a:endParaRPr lang="en-US" altLang="en-US" dirty="0">
              <a:solidFill>
                <a:srgbClr val="FF0000"/>
              </a:solidFill>
            </a:endParaRPr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7A83A917-361D-46BE-8E97-7BBC64A1E8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9633C80-3D13-491D-B6C6-BD2B435B1423}" type="slidenum">
              <a:rPr lang="en-US" altLang="en-US" smtClean="0"/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3690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71D01-4089-91DB-6104-232FB7743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CB05DA82-4F2C-EA75-34DE-A1CD21B54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83456"/>
            <a:ext cx="7886700" cy="1325563"/>
          </a:xfrm>
        </p:spPr>
        <p:txBody>
          <a:bodyPr/>
          <a:lstStyle/>
          <a:p>
            <a:r>
              <a:rPr lang="en-US" altLang="en-US" dirty="0"/>
              <a:t>Synchronized Methods</a:t>
            </a:r>
          </a:p>
        </p:txBody>
      </p:sp>
      <p:sp>
        <p:nvSpPr>
          <p:cNvPr id="49155" name="Content Placeholder 2">
            <a:extLst>
              <a:ext uri="{FF2B5EF4-FFF2-40B4-BE49-F238E27FC236}">
                <a16:creationId xmlns:a16="http://schemas.microsoft.com/office/drawing/2014/main" id="{E72A8D9C-DC19-68AA-FCBF-C38D7071F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058150" cy="4351338"/>
          </a:xfrm>
        </p:spPr>
        <p:txBody>
          <a:bodyPr/>
          <a:lstStyle/>
          <a:p>
            <a:pPr lvl="1" algn="just"/>
            <a:r>
              <a:rPr lang="en-IN" dirty="0"/>
              <a:t>Declare method with synchronized keyword.</a:t>
            </a:r>
          </a:p>
          <a:p>
            <a:pPr lvl="1" algn="just"/>
            <a:r>
              <a:rPr lang="en-IN" dirty="0"/>
              <a:t>Locks the </a:t>
            </a:r>
            <a:r>
              <a:rPr lang="en-IN" b="1" dirty="0"/>
              <a:t>object</a:t>
            </a:r>
            <a:r>
              <a:rPr lang="en-IN" dirty="0"/>
              <a:t> until method execution completes.</a:t>
            </a:r>
            <a:endParaRPr lang="en-US" altLang="en-US" dirty="0">
              <a:solidFill>
                <a:srgbClr val="FF0000"/>
              </a:solidFill>
            </a:endParaRPr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D5B192A8-D084-DC41-E175-146AB7048C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9633C80-3D13-491D-B6C6-BD2B435B1423}" type="slidenum">
              <a:rPr lang="en-US" altLang="en-US" smtClean="0"/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42FF67-B9B8-0F04-F49A-4E2456F26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613" y="3733800"/>
            <a:ext cx="6790223" cy="191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3787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8FCFA-E6FB-9738-8769-8781B92F4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D2586F32-92AA-2AE7-046D-79ECC8535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83456"/>
            <a:ext cx="7886700" cy="1325563"/>
          </a:xfrm>
        </p:spPr>
        <p:txBody>
          <a:bodyPr/>
          <a:lstStyle/>
          <a:p>
            <a:r>
              <a:rPr lang="en-US" altLang="en-US" dirty="0"/>
              <a:t>Thread synchronization</a:t>
            </a:r>
          </a:p>
        </p:txBody>
      </p:sp>
      <p:sp>
        <p:nvSpPr>
          <p:cNvPr id="49155" name="Content Placeholder 2">
            <a:extLst>
              <a:ext uri="{FF2B5EF4-FFF2-40B4-BE49-F238E27FC236}">
                <a16:creationId xmlns:a16="http://schemas.microsoft.com/office/drawing/2014/main" id="{F4FCF6EF-CB6E-D051-245D-143904338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058150" cy="4351338"/>
          </a:xfrm>
        </p:spPr>
        <p:txBody>
          <a:bodyPr/>
          <a:lstStyle/>
          <a:p>
            <a:pPr algn="just"/>
            <a:r>
              <a:rPr lang="en-US" sz="3000" dirty="0"/>
              <a:t>Example of synchronization</a:t>
            </a:r>
          </a:p>
          <a:p>
            <a:pPr algn="just"/>
            <a:endParaRPr lang="en-US" altLang="en-US" sz="3000" dirty="0">
              <a:latin typeface="Arial" panose="020B0604020202020204" pitchFamily="34" charset="0"/>
            </a:endParaRPr>
          </a:p>
          <a:p>
            <a:pPr algn="just"/>
            <a:endParaRPr lang="en-US" altLang="en-US" sz="3000" dirty="0">
              <a:latin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US" altLang="en-US" sz="3000" dirty="0">
                <a:latin typeface="Arial" panose="020B0604020202020204" pitchFamily="34" charset="0"/>
              </a:rPr>
              <a:t>	</a:t>
            </a:r>
            <a:r>
              <a:rPr lang="en-US" altLang="en-US" sz="3000" dirty="0">
                <a:latin typeface="Arial" panose="020B0604020202020204" pitchFamily="34" charset="0"/>
                <a:hlinkClick r:id="rId2"/>
              </a:rPr>
              <a:t>click here…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457200" lvl="1" indent="0" algn="just">
              <a:buNone/>
            </a:pPr>
            <a:endParaRPr lang="en-US" altLang="en-US" dirty="0">
              <a:solidFill>
                <a:srgbClr val="FF0000"/>
              </a:solidFill>
            </a:endParaRPr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8D5D801F-6B27-A993-2A46-40A0BDE64B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9633C80-3D13-491D-B6C6-BD2B435B1423}" type="slidenum">
              <a:rPr lang="en-US" altLang="en-US" smtClean="0"/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4364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3933825"/>
            <a:ext cx="7154862" cy="1476375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br>
              <a:rPr lang="en-US" sz="3600" dirty="0">
                <a:solidFill>
                  <a:srgbClr val="C00000"/>
                </a:solidFill>
              </a:rPr>
            </a:br>
            <a:endParaRPr lang="en-IN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838200" y="5040312"/>
            <a:ext cx="7056438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37893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00200"/>
            <a:ext cx="1808163" cy="3297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1952625" y="5957888"/>
            <a:ext cx="7156450" cy="1143000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fontAlgn="auto">
              <a:spcAft>
                <a:spcPts val="0"/>
              </a:spcAft>
              <a:defRPr/>
            </a:pPr>
            <a:endParaRPr lang="en-IN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7895" name="Date Placeholder 3"/>
          <p:cNvSpPr>
            <a:spLocks noGrp="1"/>
          </p:cNvSpPr>
          <p:nvPr>
            <p:ph type="dt" sz="quarter" idx="4294967295"/>
          </p:nvPr>
        </p:nvSpPr>
        <p:spPr bwMode="auto">
          <a:xfrm>
            <a:off x="179388" y="6519863"/>
            <a:ext cx="5122862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IN" altLang="en-US" sz="1400" dirty="0">
              <a:solidFill>
                <a:srgbClr val="898989"/>
              </a:solidFill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90653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3836</TotalTime>
  <Words>1889</Words>
  <Application>Microsoft Macintosh PowerPoint</Application>
  <PresentationFormat>On-screen Show (4:3)</PresentationFormat>
  <Paragraphs>329</Paragraphs>
  <Slides>44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3" baseType="lpstr">
      <vt:lpstr>Algerian</vt:lpstr>
      <vt:lpstr>Arial</vt:lpstr>
      <vt:lpstr>Consolas</vt:lpstr>
      <vt:lpstr>inter-regular</vt:lpstr>
      <vt:lpstr>Tahoma</vt:lpstr>
      <vt:lpstr>Times New Roman</vt:lpstr>
      <vt:lpstr>urw-din</vt:lpstr>
      <vt:lpstr>Wingdings</vt:lpstr>
      <vt:lpstr>Default Design</vt:lpstr>
      <vt:lpstr>Exception Handling Interface and Thread in Java  CSIT751 (PG)  (CORE JAVA MODULE III)   </vt:lpstr>
      <vt:lpstr>PowerPoint Presentation</vt:lpstr>
      <vt:lpstr>Exception Handling</vt:lpstr>
      <vt:lpstr>Types of Errors</vt:lpstr>
      <vt:lpstr>Example of Compile Time Error</vt:lpstr>
      <vt:lpstr>Example of Runtime Error</vt:lpstr>
      <vt:lpstr>Exception Handling</vt:lpstr>
      <vt:lpstr> Exception Handling where exceptions may occur </vt:lpstr>
      <vt:lpstr>Types of Exceptions</vt:lpstr>
      <vt:lpstr>Five keywords used in Exception handling: </vt:lpstr>
      <vt:lpstr>Example: ArithmeticException      (Divide by Zero) </vt:lpstr>
      <vt:lpstr>Example: ArithmeticException        (Divide by Zero until denominator is non-zero) </vt:lpstr>
      <vt:lpstr> finally block </vt:lpstr>
      <vt:lpstr> finally block </vt:lpstr>
      <vt:lpstr> finally block : Example </vt:lpstr>
      <vt:lpstr> One Try can have Multiple Catch </vt:lpstr>
      <vt:lpstr>Example for Multiple Catch statements</vt:lpstr>
      <vt:lpstr> throw/throws keyword </vt:lpstr>
      <vt:lpstr> throw keyword </vt:lpstr>
      <vt:lpstr> throw Example </vt:lpstr>
      <vt:lpstr> throws keyword </vt:lpstr>
      <vt:lpstr> throws Example </vt:lpstr>
      <vt:lpstr>Java Custom (User Defined) Exception</vt:lpstr>
      <vt:lpstr>User Defined Exception Syntax</vt:lpstr>
      <vt:lpstr>User Defined Exception Examples using throw</vt:lpstr>
      <vt:lpstr>User Defined Exception Example using throws</vt:lpstr>
      <vt:lpstr>Threads in Java</vt:lpstr>
      <vt:lpstr> The life cycle of the thread in java is controlled by JVM. The java thread states are as follows:</vt:lpstr>
      <vt:lpstr>PowerPoint Presentation</vt:lpstr>
      <vt:lpstr>PowerPoint Presentation</vt:lpstr>
      <vt:lpstr>Creating and Implementing thread</vt:lpstr>
      <vt:lpstr>1. Create a class by extending Thread class and override run() method:  </vt:lpstr>
      <vt:lpstr>PowerPoint Presentation</vt:lpstr>
      <vt:lpstr>Example : Using Thread class    click here…</vt:lpstr>
      <vt:lpstr> 2. Create a class that implements the interface Runnable and override run() method:</vt:lpstr>
      <vt:lpstr>PowerPoint Presentation</vt:lpstr>
      <vt:lpstr>Example : Using Runnable interface    click here…</vt:lpstr>
      <vt:lpstr>Thread Priorities</vt:lpstr>
      <vt:lpstr>Thread Priority Example   click here…</vt:lpstr>
      <vt:lpstr>Methods in Thread Class</vt:lpstr>
      <vt:lpstr>Thread synchronization</vt:lpstr>
      <vt:lpstr>Synchronized Methods</vt:lpstr>
      <vt:lpstr>Thread synchronization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schandra</dc:creator>
  <cp:lastModifiedBy>Ajay Rastogy</cp:lastModifiedBy>
  <cp:revision>147</cp:revision>
  <dcterms:created xsi:type="dcterms:W3CDTF">2008-12-16T09:40:48Z</dcterms:created>
  <dcterms:modified xsi:type="dcterms:W3CDTF">2025-09-29T06:36:21Z</dcterms:modified>
</cp:coreProperties>
</file>